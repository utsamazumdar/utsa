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8" r:id="rId3"/>
    <p:sldId id="304" r:id="rId4"/>
    <p:sldId id="266" r:id="rId5"/>
    <p:sldId id="271" r:id="rId6"/>
    <p:sldId id="267" r:id="rId7"/>
    <p:sldId id="303" r:id="rId8"/>
    <p:sldId id="305" r:id="rId9"/>
    <p:sldId id="306" r:id="rId10"/>
    <p:sldId id="307" r:id="rId11"/>
    <p:sldId id="275" r:id="rId12"/>
    <p:sldId id="276" r:id="rId13"/>
    <p:sldId id="325" r:id="rId14"/>
    <p:sldId id="311" r:id="rId15"/>
    <p:sldId id="308" r:id="rId16"/>
    <p:sldId id="309" r:id="rId17"/>
    <p:sldId id="310" r:id="rId18"/>
    <p:sldId id="277" r:id="rId19"/>
    <p:sldId id="278" r:id="rId20"/>
    <p:sldId id="279" r:id="rId21"/>
    <p:sldId id="280" r:id="rId22"/>
    <p:sldId id="281" r:id="rId23"/>
    <p:sldId id="300" r:id="rId24"/>
    <p:sldId id="312" r:id="rId25"/>
    <p:sldId id="313" r:id="rId26"/>
    <p:sldId id="314" r:id="rId27"/>
    <p:sldId id="315" r:id="rId28"/>
    <p:sldId id="316" r:id="rId29"/>
    <p:sldId id="283" r:id="rId30"/>
    <p:sldId id="284" r:id="rId31"/>
    <p:sldId id="285" r:id="rId32"/>
    <p:sldId id="286" r:id="rId33"/>
    <p:sldId id="301" r:id="rId34"/>
    <p:sldId id="288" r:id="rId35"/>
    <p:sldId id="289" r:id="rId36"/>
    <p:sldId id="290" r:id="rId37"/>
    <p:sldId id="291" r:id="rId38"/>
    <p:sldId id="317" r:id="rId39"/>
    <p:sldId id="292" r:id="rId40"/>
    <p:sldId id="318" r:id="rId41"/>
    <p:sldId id="321" r:id="rId42"/>
    <p:sldId id="322" r:id="rId43"/>
    <p:sldId id="319" r:id="rId44"/>
    <p:sldId id="294" r:id="rId45"/>
    <p:sldId id="295" r:id="rId46"/>
    <p:sldId id="324" r:id="rId47"/>
    <p:sldId id="296" r:id="rId48"/>
    <p:sldId id="297" r:id="rId49"/>
    <p:sldId id="302" r:id="rId50"/>
    <p:sldId id="265" r:id="rId51"/>
    <p:sldId id="264" r:id="rId5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724"/>
  </p:normalViewPr>
  <p:slideViewPr>
    <p:cSldViewPr snapToGrid="0" snapToObjects="1" showGuides="1">
      <p:cViewPr varScale="1">
        <p:scale>
          <a:sx n="60" d="100"/>
          <a:sy n="60" d="100"/>
        </p:scale>
        <p:origin x="1460" y="4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8" Type="http://schemas.openxmlformats.org/officeDocument/2006/relationships/customXml" Target="../customXml/item3.xml"/><Relationship Id="rId57" Type="http://schemas.openxmlformats.org/officeDocument/2006/relationships/customXml" Target="../customXml/item2.xml"/><Relationship Id="rId56" Type="http://schemas.openxmlformats.org/officeDocument/2006/relationships/customXml" Target="../customXml/item1.xml"/><Relationship Id="rId55" Type="http://schemas.openxmlformats.org/officeDocument/2006/relationships/tableStyles" Target="tableStyles.xml"/><Relationship Id="rId54" Type="http://schemas.openxmlformats.org/officeDocument/2006/relationships/viewProps" Target="viewProps.xml"/><Relationship Id="rId53" Type="http://schemas.openxmlformats.org/officeDocument/2006/relationships/presProps" Target="presProps.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lang="fi-FI"/>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anose="05000000000000000000"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pic>
        <p:nvPicPr>
          <p:cNvPr id="1026" name="Picture 2" descr="Image result for AIUB logo"/>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title"/>
          </p:nvPr>
        </p:nvSpPr>
        <p:spPr/>
        <p:txBody>
          <a:bodyPr/>
          <a:lstStyle/>
          <a:p>
            <a:r>
              <a:rPr lang="fi-FI"/>
              <a:t>Click to edit Master title style</a:t>
            </a:r>
            <a:endParaRPr lang="fi-FI"/>
          </a:p>
        </p:txBody>
      </p:sp>
      <p:sp>
        <p:nvSpPr>
          <p:cNvPr id="3" name="Content Placeholder 2"/>
          <p:cNvSpPr>
            <a:spLocks noGrp="1"/>
          </p:cNvSpPr>
          <p:nvPr>
            <p:ph idx="1"/>
          </p:nvPr>
        </p:nvSpPr>
        <p:spPr/>
        <p:txBody>
          <a:bodyPr/>
          <a:lstStyle>
            <a:lvl5pPr>
              <a:defRPr/>
            </a:lvl5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fld>
            <a:endParaRPr lang="en-US"/>
          </a:p>
        </p:txBody>
      </p:sp>
      <p:sp>
        <p:nvSpPr>
          <p:cNvPr id="8" name="Picture Placeholder 7"/>
          <p:cNvSpPr>
            <a:spLocks noGrp="1"/>
          </p:cNvSpPr>
          <p:nvPr>
            <p:ph type="pic" sz="quarter" idx="13" hasCustomPrompt="1"/>
          </p:nvPr>
        </p:nvSpPr>
        <p:spPr>
          <a:xfrm>
            <a:off x="284162" y="2017058"/>
            <a:ext cx="8574087" cy="4377391"/>
          </a:xfrm>
        </p:spPr>
        <p:txBody>
          <a:bodyPr/>
          <a:lstStyle>
            <a:lvl1pPr>
              <a:buNone/>
              <a:defRPr/>
            </a:lvl1pPr>
          </a:lstStyle>
          <a:p>
            <a:r>
              <a:rPr lang="fi-FI"/>
              <a:t>Drag picture to placeholder or click icon to add</a:t>
            </a:r>
            <a:endParaRPr lang="fi-FI"/>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panose="05000000000000000000"/>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lang="fi-FI"/>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panose="05000000000000000000"/>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lang="fi-FI"/>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anose="05000000000000000000" pitchFamily="2" charset="2"/>
              <a:buNone/>
            </a:pPr>
            <a:r>
              <a:rPr lang="fi-FI"/>
              <a:t>Click to edit Master text styles</a:t>
            </a:r>
            <a:endParaRPr lang="fi-FI"/>
          </a:p>
        </p:txBody>
      </p:sp>
      <p:sp>
        <p:nvSpPr>
          <p:cNvPr id="4" name="Date Placeholder 3"/>
          <p:cNvSpPr>
            <a:spLocks noGrp="1"/>
          </p:cNvSpPr>
          <p:nvPr>
            <p:ph type="dt" sz="half" idx="10"/>
          </p:nvPr>
        </p:nvSpPr>
        <p:spPr/>
        <p:txBody>
          <a:bodyPr/>
          <a:lstStyle/>
          <a:p>
            <a:fld id="{4251665B-C24A-4702-B522-6A4334602E0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hasCustomPrompt="1"/>
          </p:nvPr>
        </p:nvSpPr>
        <p:spPr>
          <a:xfrm>
            <a:off x="284162" y="443754"/>
            <a:ext cx="8574087" cy="4370293"/>
          </a:xfrm>
        </p:spPr>
        <p:txBody>
          <a:bodyPr/>
          <a:lstStyle>
            <a:lvl1pPr>
              <a:buNone/>
              <a:defRPr/>
            </a:lvl1pPr>
          </a:lstStyle>
          <a:p>
            <a:r>
              <a:rPr lang="fi-FI"/>
              <a:t>Drag picture to placeholder or click icon to add</a:t>
            </a:r>
            <a:endParaRPr lang="fi-FI"/>
          </a:p>
        </p:txBody>
      </p:sp>
      <p:sp>
        <p:nvSpPr>
          <p:cNvPr id="4" name="Date Placeholder 3"/>
          <p:cNvSpPr>
            <a:spLocks noGrp="1"/>
          </p:cNvSpPr>
          <p:nvPr>
            <p:ph type="dt" sz="half" idx="10"/>
          </p:nvPr>
        </p:nvSpPr>
        <p:spPr/>
        <p:txBody>
          <a:bodyPr/>
          <a:lstStyle/>
          <a:p>
            <a:fld id="{4251665B-C24A-4702-B522-6A4334602E0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panose="05000000000000000000"/>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lang="fi-FI"/>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endParaRPr lang="fi-FI"/>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title"/>
          </p:nvPr>
        </p:nvSpPr>
        <p:spPr/>
        <p:txBody>
          <a:bodyPr/>
          <a:lstStyle/>
          <a:p>
            <a:r>
              <a:rPr lang="fi-FI"/>
              <a:t>Click to edit Master title style</a:t>
            </a:r>
            <a:endParaRPr lang="fi-FI"/>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title"/>
          </p:nvPr>
        </p:nvSpPr>
        <p:spPr/>
        <p:txBody>
          <a:bodyPr/>
          <a:lstStyle>
            <a:lvl1pPr>
              <a:defRPr/>
            </a:lvl1pPr>
          </a:lstStyle>
          <a:p>
            <a:r>
              <a:rPr lang="fi-FI"/>
              <a:t>Click to edit Master title style</a:t>
            </a:r>
            <a:endParaRPr lang="fi-FI"/>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endParaRPr lang="fi-FI"/>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endParaRPr lang="fi-FI"/>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title"/>
          </p:nvPr>
        </p:nvSpPr>
        <p:spPr/>
        <p:txBody>
          <a:bodyPr/>
          <a:lstStyle/>
          <a:p>
            <a:r>
              <a:rPr lang="fi-FI"/>
              <a:t>Click to edit Master title style</a:t>
            </a:r>
            <a:endParaRPr lang="fi-FI"/>
          </a:p>
        </p:txBody>
      </p:sp>
      <p:sp>
        <p:nvSpPr>
          <p:cNvPr id="3" name="Date Placeholder 2"/>
          <p:cNvSpPr>
            <a:spLocks noGrp="1"/>
          </p:cNvSpPr>
          <p:nvPr>
            <p:ph type="dt" sz="half" idx="10"/>
          </p:nvPr>
        </p:nvSpPr>
        <p:spPr/>
        <p:txBody>
          <a:bodyPr/>
          <a:lstStyle/>
          <a:p>
            <a:fld id="{4251665B-C24A-4702-B522-6A4334602E03}"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pic>
        <p:nvPicPr>
          <p:cNvPr id="2050" name="Picture 2" descr="Image result for AIUB logo"/>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lang="fi-FI"/>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endParaRPr lang="fi-FI"/>
          </a:p>
        </p:txBody>
      </p:sp>
      <p:sp>
        <p:nvSpPr>
          <p:cNvPr id="5" name="Date Placeholder 4"/>
          <p:cNvSpPr>
            <a:spLocks noGrp="1"/>
          </p:cNvSpPr>
          <p:nvPr>
            <p:ph type="dt" sz="half" idx="10"/>
          </p:nvPr>
        </p:nvSpPr>
        <p:spPr/>
        <p:txBody>
          <a:bodyPr/>
          <a:lstStyle/>
          <a:p>
            <a:fld id="{4251665B-C24A-4702-B522-6A4334602E03}"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lang="fi-FI"/>
          </a:p>
        </p:txBody>
      </p:sp>
      <p:sp>
        <p:nvSpPr>
          <p:cNvPr id="3" name="Picture Placeholder 2"/>
          <p:cNvSpPr>
            <a:spLocks noGrp="1"/>
          </p:cNvSpPr>
          <p:nvPr>
            <p:ph type="pic" idx="1" hasCustomPrompt="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lang="fi-FI"/>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endParaRPr lang="fi-FI"/>
          </a:p>
        </p:txBody>
      </p:sp>
      <p:sp>
        <p:nvSpPr>
          <p:cNvPr id="5" name="Date Placeholder 4"/>
          <p:cNvSpPr>
            <a:spLocks noGrp="1"/>
          </p:cNvSpPr>
          <p:nvPr>
            <p:ph type="dt" sz="half" idx="10"/>
          </p:nvPr>
        </p:nvSpPr>
        <p:spPr/>
        <p:txBody>
          <a:bodyPr/>
          <a:lstStyle/>
          <a:p>
            <a:fld id="{4251665B-C24A-4702-B522-6A4334602E03}"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lang="fi-FI"/>
          </a:p>
        </p:txBody>
      </p:sp>
      <p:sp>
        <p:nvSpPr>
          <p:cNvPr id="3" name="Picture Placeholder 2"/>
          <p:cNvSpPr>
            <a:spLocks noGrp="1"/>
          </p:cNvSpPr>
          <p:nvPr>
            <p:ph type="pic" idx="1" hasCustomPrompt="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lang="fi-FI"/>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endParaRPr lang="fi-FI"/>
          </a:p>
        </p:txBody>
      </p:sp>
      <p:sp>
        <p:nvSpPr>
          <p:cNvPr id="5" name="Date Placeholder 4"/>
          <p:cNvSpPr>
            <a:spLocks noGrp="1"/>
          </p:cNvSpPr>
          <p:nvPr>
            <p:ph type="dt" sz="half" idx="10"/>
          </p:nvPr>
        </p:nvSpPr>
        <p:spPr/>
        <p:txBody>
          <a:bodyPr/>
          <a:lstStyle/>
          <a:p>
            <a:fld id="{4251665B-C24A-4702-B522-6A4334602E03}"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endParaRPr lang="fi-FI"/>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lang="fi-FI"/>
          </a:p>
        </p:txBody>
      </p:sp>
      <p:sp>
        <p:nvSpPr>
          <p:cNvPr id="14" name="Picture Placeholder 13"/>
          <p:cNvSpPr>
            <a:spLocks noGrp="1"/>
          </p:cNvSpPr>
          <p:nvPr>
            <p:ph type="pic" sz="quarter" idx="13" hasCustomPrompt="1"/>
          </p:nvPr>
        </p:nvSpPr>
        <p:spPr>
          <a:xfrm>
            <a:off x="284164" y="594360"/>
            <a:ext cx="2743200" cy="3675888"/>
          </a:xfrm>
        </p:spPr>
        <p:txBody>
          <a:bodyPr/>
          <a:lstStyle>
            <a:lvl1pPr>
              <a:buNone/>
              <a:defRPr/>
            </a:lvl1pPr>
          </a:lstStyle>
          <a:p>
            <a:r>
              <a:rPr lang="fi-FI"/>
              <a:t>Drag picture to placeholder or click icon to add</a:t>
            </a:r>
            <a:endParaRPr lang="fi-FI"/>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lang="fi-FI"/>
          </a:p>
        </p:txBody>
      </p:sp>
      <p:sp>
        <p:nvSpPr>
          <p:cNvPr id="3" name="Picture Placeholder 2"/>
          <p:cNvSpPr>
            <a:spLocks noGrp="1"/>
          </p:cNvSpPr>
          <p:nvPr>
            <p:ph type="pic" idx="1" hasCustomPrompt="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lang="fi-FI"/>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endParaRPr lang="fi-FI"/>
          </a:p>
        </p:txBody>
      </p:sp>
      <p:sp>
        <p:nvSpPr>
          <p:cNvPr id="5" name="Date Placeholder 4"/>
          <p:cNvSpPr>
            <a:spLocks noGrp="1"/>
          </p:cNvSpPr>
          <p:nvPr>
            <p:ph type="dt" sz="half" idx="10"/>
          </p:nvPr>
        </p:nvSpPr>
        <p:spPr/>
        <p:txBody>
          <a:bodyPr/>
          <a:lstStyle/>
          <a:p>
            <a:fld id="{4251665B-C24A-4702-B522-6A4334602E03}"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fld>
            <a:endParaRPr lang="en-US"/>
          </a:p>
        </p:txBody>
      </p:sp>
      <p:sp>
        <p:nvSpPr>
          <p:cNvPr id="13" name="Picture Placeholder 2"/>
          <p:cNvSpPr>
            <a:spLocks noGrp="1"/>
          </p:cNvSpPr>
          <p:nvPr>
            <p:ph type="pic" idx="13" hasCustomPrompt="1"/>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lang="fi-FI"/>
          </a:p>
        </p:txBody>
      </p:sp>
      <p:sp>
        <p:nvSpPr>
          <p:cNvPr id="14" name="Picture Placeholder 2"/>
          <p:cNvSpPr>
            <a:spLocks noGrp="1"/>
          </p:cNvSpPr>
          <p:nvPr>
            <p:ph type="pic" idx="14" hasCustomPrompt="1"/>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lang="fi-FI"/>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title"/>
          </p:nvPr>
        </p:nvSpPr>
        <p:spPr/>
        <p:txBody>
          <a:bodyPr/>
          <a:lstStyle/>
          <a:p>
            <a:r>
              <a:rPr lang="fi-FI"/>
              <a:t>Click to edit Master title style</a:t>
            </a:r>
            <a:endParaRPr lang="fi-FI"/>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lang="fi-FI"/>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lang="fi-FI"/>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3.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7.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0.jpeg"/><Relationship Id="rId1" Type="http://schemas.openxmlformats.org/officeDocument/2006/relationships/image" Target="../media/image19.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1.jpe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2.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3.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dirty="0"/>
          </a:p>
        </p:txBody>
      </p:sp>
      <p:sp>
        <p:nvSpPr>
          <p:cNvPr id="3" name="Subtitle 2"/>
          <p:cNvSpPr>
            <a:spLocks noGrp="1"/>
          </p:cNvSpPr>
          <p:nvPr>
            <p:ph type="subTitle" idx="1"/>
          </p:nvPr>
        </p:nvSpPr>
        <p:spPr>
          <a:xfrm>
            <a:off x="476205" y="1532427"/>
            <a:ext cx="2789509" cy="484632"/>
          </a:xfrm>
        </p:spPr>
        <p:txBody>
          <a:bodyPr>
            <a:normAutofit/>
          </a:bodyPr>
          <a:lstStyle/>
          <a:p>
            <a:r>
              <a:rPr lang="en-US" dirty="0"/>
              <a:t>Course Code:  </a:t>
            </a:r>
            <a:r>
              <a:rPr lang="en-US" b="1" dirty="0"/>
              <a:t>CSC4226 </a:t>
            </a:r>
            <a:endParaRPr lang="en-US" dirty="0"/>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endParaRPr lang="en-US" sz="2000" b="1" dirty="0">
              <a:solidFill>
                <a:srgbClr val="0070C0"/>
              </a:solidFill>
              <a:latin typeface="Arial" panose="020B0604020202020204" pitchFamily="34" charset="0"/>
              <a:cs typeface="Arial" panose="020B0604020202020204" pitchFamily="34" charset="0"/>
            </a:endParaRP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p:cNvGraphicFramePr>
            <a:graphicFrameLocks noGrp="1"/>
          </p:cNvGraphicFramePr>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gridCol w="1397725"/>
                <a:gridCol w="1227909"/>
                <a:gridCol w="1541417"/>
                <a:gridCol w="1240971"/>
                <a:gridCol w="1444552"/>
              </a:tblGrid>
              <a:tr h="378736">
                <a:tc>
                  <a:txBody>
                    <a:bodyPr/>
                    <a:lstStyle/>
                    <a:p>
                      <a:r>
                        <a:rPr lang="en-US" dirty="0"/>
                        <a:t>Lecture No:</a:t>
                      </a:r>
                      <a:endParaRPr lang="en-US" dirty="0"/>
                    </a:p>
                  </a:txBody>
                  <a:tcPr/>
                </a:tc>
                <a:tc>
                  <a:txBody>
                    <a:bodyPr/>
                    <a:lstStyle/>
                    <a:p>
                      <a:r>
                        <a:rPr lang="en-US" dirty="0"/>
                        <a:t>Two (2)</a:t>
                      </a:r>
                      <a:endParaRPr lang="en-US" dirty="0"/>
                    </a:p>
                  </a:txBody>
                  <a:tcPr/>
                </a:tc>
                <a:tc>
                  <a:txBody>
                    <a:bodyPr/>
                    <a:lstStyle/>
                    <a:p>
                      <a:r>
                        <a:rPr lang="en-US" dirty="0"/>
                        <a:t>Week No:</a:t>
                      </a:r>
                      <a:endParaRPr lang="en-US" dirty="0"/>
                    </a:p>
                  </a:txBody>
                  <a:tcPr/>
                </a:tc>
                <a:tc>
                  <a:txBody>
                    <a:bodyPr/>
                    <a:lstStyle/>
                    <a:p>
                      <a:r>
                        <a:rPr lang="en-US" dirty="0"/>
                        <a:t>Two (2)</a:t>
                      </a:r>
                      <a:endParaRPr lang="en-US" dirty="0"/>
                    </a:p>
                  </a:txBody>
                  <a:tcPr/>
                </a:tc>
                <a:tc>
                  <a:txBody>
                    <a:bodyPr/>
                    <a:lstStyle/>
                    <a:p>
                      <a:r>
                        <a:rPr lang="en-US" dirty="0"/>
                        <a:t>Semester:</a:t>
                      </a:r>
                      <a:endParaRPr lang="en-US" dirty="0"/>
                    </a:p>
                  </a:txBody>
                  <a:tcPr/>
                </a:tc>
                <a:tc>
                  <a:txBody>
                    <a:bodyPr/>
                    <a:lstStyle/>
                    <a:p>
                      <a:endParaRPr lang="en-US" dirty="0"/>
                    </a:p>
                  </a:txBody>
                  <a:tcPr/>
                </a:tc>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endParaRPr kumimoji="0" lang="en-US" sz="1800" b="1" i="0" u="none" strike="noStrike" kern="1200" cap="none" spc="0" normalizeH="0" baseline="0" noProof="0" dirty="0">
                        <a:ln>
                          <a:noFill/>
                        </a:ln>
                        <a:solidFill>
                          <a:prstClr val="black"/>
                        </a:solidFill>
                        <a:effectLst/>
                        <a:uLnTx/>
                        <a:uFillTx/>
                        <a:latin typeface="+mn-lt"/>
                        <a:ea typeface="+mn-ea"/>
                        <a:cs typeface="+mn-cs"/>
                      </a:endParaRPr>
                    </a:p>
                  </a:txBody>
                  <a:tcPr/>
                </a:tc>
                <a:tc gridSpan="5">
                  <a:txBody>
                    <a:bodyPr/>
                    <a:lstStyle/>
                    <a:p>
                      <a:r>
                        <a:rPr lang="en-US" i="1"/>
                        <a:t>Shaikat Das Joy</a:t>
                      </a:r>
                      <a:endParaRPr lang="en-US" i="1" dirty="0"/>
                    </a:p>
                  </a:txBody>
                  <a:tcPr/>
                </a:tc>
                <a:tc hMerge="1">
                  <a:tcPr/>
                </a:tc>
                <a:tc hMerge="1">
                  <a:tcPr/>
                </a:tc>
                <a:tc hMerge="1">
                  <a:tcPr/>
                </a:tc>
                <a:tc hMerge="1">
                  <a:tcPr/>
                </a:tc>
              </a:tr>
            </a:tbl>
          </a:graphicData>
        </a:graphic>
      </p:graphicFrame>
      <p:sp>
        <p:nvSpPr>
          <p:cNvPr id="8" name="Subtitle 2"/>
          <p:cNvSpPr txBox="1"/>
          <p:nvPr/>
        </p:nvSpPr>
        <p:spPr>
          <a:xfrm>
            <a:off x="2786003" y="1524312"/>
            <a:ext cx="523257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anose="05000000000000000000"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anose="05000000000000000000"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anose="05000000000000000000"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9pPr>
          </a:lstStyle>
          <a:p>
            <a:r>
              <a:rPr lang="en-US" dirty="0"/>
              <a:t>Course Title:  </a:t>
            </a:r>
            <a:r>
              <a:rPr lang="en-US" b="1" dirty="0"/>
              <a:t>Artificial Intelligence and Expert System </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AGENT</a:t>
            </a:r>
            <a:endParaRPr lang="en-US" dirty="0"/>
          </a:p>
        </p:txBody>
      </p:sp>
      <p:sp>
        <p:nvSpPr>
          <p:cNvPr id="4" name="TextBox 3"/>
          <p:cNvSpPr txBox="1"/>
          <p:nvPr/>
        </p:nvSpPr>
        <p:spPr>
          <a:xfrm>
            <a:off x="421341" y="2075271"/>
            <a:ext cx="8251604" cy="707886"/>
          </a:xfrm>
          <a:prstGeom prst="rect">
            <a:avLst/>
          </a:prstGeom>
          <a:noFill/>
        </p:spPr>
        <p:txBody>
          <a:bodyPr wrap="square" rtlCol="0">
            <a:spAutoFit/>
          </a:bodyPr>
          <a:lstStyle/>
          <a:p>
            <a:pPr algn="just"/>
            <a:r>
              <a:rPr lang="en-US" sz="2000" dirty="0"/>
              <a:t>An </a:t>
            </a:r>
            <a:r>
              <a:rPr lang="en-US" sz="2000" b="1" dirty="0"/>
              <a:t>agent </a:t>
            </a:r>
            <a:r>
              <a:rPr lang="en-US" sz="2000" dirty="0"/>
              <a:t>is anything that can be viewed as perceiving its </a:t>
            </a:r>
            <a:r>
              <a:rPr lang="en-US" sz="2000" b="1" dirty="0"/>
              <a:t>environment </a:t>
            </a:r>
            <a:r>
              <a:rPr lang="en-US" sz="2000" dirty="0"/>
              <a:t>through </a:t>
            </a:r>
            <a:r>
              <a:rPr lang="en-US" sz="2000" b="1" dirty="0"/>
              <a:t>sensors </a:t>
            </a:r>
            <a:r>
              <a:rPr lang="en-US" sz="2000" dirty="0"/>
              <a:t>and acting upon that environment through </a:t>
            </a:r>
            <a:r>
              <a:rPr lang="en-US" sz="2000" b="1" dirty="0"/>
              <a:t>actuators</a:t>
            </a:r>
            <a:r>
              <a:rPr lang="en-US" sz="2000" dirty="0"/>
              <a:t>.</a:t>
            </a:r>
            <a:endParaRPr lang="en-US" sz="2000" dirty="0"/>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42568" y="2783157"/>
            <a:ext cx="6491287" cy="38855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INTELLIGENT AGENT</a:t>
            </a:r>
            <a:endParaRPr lang="en-US" dirty="0"/>
          </a:p>
        </p:txBody>
      </p:sp>
      <p:sp>
        <p:nvSpPr>
          <p:cNvPr id="7" name="Content Placeholder 2"/>
          <p:cNvSpPr txBox="1"/>
          <p:nvPr/>
        </p:nvSpPr>
        <p:spPr>
          <a:xfrm>
            <a:off x="435547" y="2186674"/>
            <a:ext cx="7794770" cy="3854547"/>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anose="05000000000000000000"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anose="05000000000000000000"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anose="05000000000000000000"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9pPr>
          </a:lstStyle>
          <a:p>
            <a:pPr algn="just"/>
            <a:r>
              <a:rPr lang="en-US" sz="2400" b="1" dirty="0">
                <a:solidFill>
                  <a:schemeClr val="tx1"/>
                </a:solidFill>
              </a:rPr>
              <a:t>Agent: </a:t>
            </a:r>
            <a:r>
              <a:rPr lang="en-US" sz="2400" dirty="0">
                <a:solidFill>
                  <a:schemeClr val="tx1"/>
                </a:solidFill>
              </a:rPr>
              <a:t>An entity in a program or environment capable of generating action.</a:t>
            </a:r>
            <a:endParaRPr lang="en-US" sz="2400" dirty="0">
              <a:solidFill>
                <a:schemeClr val="tx1"/>
              </a:solidFill>
            </a:endParaRPr>
          </a:p>
          <a:p>
            <a:pPr algn="just"/>
            <a:endParaRPr lang="en-US" sz="2400" dirty="0">
              <a:solidFill>
                <a:schemeClr val="tx1"/>
              </a:solidFill>
            </a:endParaRPr>
          </a:p>
          <a:p>
            <a:pPr algn="just"/>
            <a:r>
              <a:rPr lang="en-US" sz="2400" dirty="0">
                <a:solidFill>
                  <a:schemeClr val="tx1"/>
                </a:solidFill>
              </a:rPr>
              <a:t>An agent uses perception of the environment to make decisions about actions to take.</a:t>
            </a:r>
            <a:endParaRPr lang="en-US" sz="2400" dirty="0">
              <a:solidFill>
                <a:schemeClr val="tx1"/>
              </a:solidFill>
            </a:endParaRPr>
          </a:p>
          <a:p>
            <a:pPr algn="just"/>
            <a:endParaRPr lang="en-US" sz="2400" dirty="0">
              <a:solidFill>
                <a:schemeClr val="tx1"/>
              </a:solidFill>
            </a:endParaRPr>
          </a:p>
          <a:p>
            <a:pPr algn="just"/>
            <a:r>
              <a:rPr lang="en-US" sz="2400" dirty="0">
                <a:solidFill>
                  <a:schemeClr val="tx1"/>
                </a:solidFill>
              </a:rPr>
              <a:t>The perception capability is usually called a sensor.</a:t>
            </a:r>
            <a:endParaRPr lang="en-US" sz="2400" dirty="0">
              <a:solidFill>
                <a:schemeClr val="tx1"/>
              </a:solidFill>
            </a:endParaRPr>
          </a:p>
          <a:p>
            <a:pPr algn="just"/>
            <a:endParaRPr lang="en-US" sz="2400" dirty="0">
              <a:solidFill>
                <a:schemeClr val="tx1"/>
              </a:solidFill>
            </a:endParaRPr>
          </a:p>
          <a:p>
            <a:pPr algn="just"/>
            <a:r>
              <a:rPr lang="en-US" sz="2400" dirty="0">
                <a:solidFill>
                  <a:schemeClr val="tx1"/>
                </a:solidFill>
              </a:rPr>
              <a:t>The actions can depend on the most recent perception or on the entire history (percept sequence).</a:t>
            </a:r>
            <a:endParaRPr lang="en-US" sz="2400" dirty="0">
              <a:solidFill>
                <a:schemeClr val="tx1"/>
              </a:solidFill>
            </a:endParaRPr>
          </a:p>
          <a:p>
            <a:pPr algn="just"/>
            <a:endParaRPr lang="en-US" sz="2400" dirty="0">
              <a:solidFill>
                <a:schemeClr val="tx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0" y="589684"/>
            <a:ext cx="8469441" cy="1088136"/>
          </a:xfrm>
        </p:spPr>
        <p:txBody>
          <a:bodyPr>
            <a:noAutofit/>
          </a:bodyPr>
          <a:lstStyle/>
          <a:p>
            <a:r>
              <a:rPr lang="en-US" sz="3200" dirty="0"/>
              <a:t>TAXONOMY OF AUTONOMOUS AGENT</a:t>
            </a:r>
            <a:endParaRPr lang="en-US" sz="3200" dirty="0"/>
          </a:p>
        </p:txBody>
      </p:sp>
      <p:pic>
        <p:nvPicPr>
          <p:cNvPr id="3" name="Picture 2"/>
          <p:cNvPicPr>
            <a:picLocks noChangeAspect="1"/>
          </p:cNvPicPr>
          <p:nvPr/>
        </p:nvPicPr>
        <p:blipFill>
          <a:blip r:embed="rId1"/>
          <a:stretch>
            <a:fillRect/>
          </a:stretch>
        </p:blipFill>
        <p:spPr>
          <a:xfrm>
            <a:off x="277090" y="2025748"/>
            <a:ext cx="8297381" cy="453889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AGENT V/S PROGRAM</a:t>
            </a:r>
            <a:endParaRPr lang="en-US" dirty="0"/>
          </a:p>
        </p:txBody>
      </p:sp>
      <p:sp>
        <p:nvSpPr>
          <p:cNvPr id="7" name="Content Placeholder 2"/>
          <p:cNvSpPr txBox="1"/>
          <p:nvPr/>
        </p:nvSpPr>
        <p:spPr>
          <a:xfrm>
            <a:off x="421341" y="2154062"/>
            <a:ext cx="8225765" cy="405970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anose="05000000000000000000"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anose="05000000000000000000"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anose="05000000000000000000"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9pPr>
          </a:lstStyle>
          <a:p>
            <a:pPr algn="just"/>
            <a:r>
              <a:rPr lang="en-US" sz="2400" b="1" dirty="0">
                <a:solidFill>
                  <a:schemeClr val="tx1"/>
                </a:solidFill>
              </a:rPr>
              <a:t>Size </a:t>
            </a:r>
            <a:r>
              <a:rPr lang="en-US" sz="2400" dirty="0">
                <a:solidFill>
                  <a:schemeClr val="tx1"/>
                </a:solidFill>
              </a:rPr>
              <a:t>- an agent is usually smaller than a program.</a:t>
            </a:r>
            <a:endParaRPr lang="en-US" sz="2400" dirty="0">
              <a:solidFill>
                <a:schemeClr val="tx1"/>
              </a:solidFill>
            </a:endParaRPr>
          </a:p>
          <a:p>
            <a:pPr algn="just"/>
            <a:endParaRPr lang="en-US" sz="2400" dirty="0">
              <a:solidFill>
                <a:schemeClr val="tx1"/>
              </a:solidFill>
            </a:endParaRPr>
          </a:p>
          <a:p>
            <a:pPr algn="just"/>
            <a:r>
              <a:rPr lang="en-US" sz="2400" b="1" dirty="0">
                <a:solidFill>
                  <a:schemeClr val="tx1"/>
                </a:solidFill>
              </a:rPr>
              <a:t>Purpose</a:t>
            </a:r>
            <a:r>
              <a:rPr lang="en-US" sz="2400" dirty="0">
                <a:solidFill>
                  <a:schemeClr val="tx1"/>
                </a:solidFill>
              </a:rPr>
              <a:t> - an agent has a specific purpose while programs are multi-functional.</a:t>
            </a:r>
            <a:endParaRPr lang="en-US" sz="2400" dirty="0">
              <a:solidFill>
                <a:schemeClr val="tx1"/>
              </a:solidFill>
            </a:endParaRPr>
          </a:p>
          <a:p>
            <a:pPr algn="just"/>
            <a:endParaRPr lang="en-US" sz="2400" dirty="0">
              <a:solidFill>
                <a:schemeClr val="tx1"/>
              </a:solidFill>
            </a:endParaRPr>
          </a:p>
          <a:p>
            <a:pPr algn="just"/>
            <a:r>
              <a:rPr lang="en-US" sz="2400" b="1" dirty="0">
                <a:solidFill>
                  <a:schemeClr val="tx1"/>
                </a:solidFill>
              </a:rPr>
              <a:t>Persistence</a:t>
            </a:r>
            <a:r>
              <a:rPr lang="en-US" sz="2400" dirty="0">
                <a:solidFill>
                  <a:schemeClr val="tx1"/>
                </a:solidFill>
              </a:rPr>
              <a:t> - an agent's life span is not entirely dependent on a user launching and quitting it.</a:t>
            </a:r>
            <a:endParaRPr lang="en-US" sz="2400" dirty="0">
              <a:solidFill>
                <a:schemeClr val="tx1"/>
              </a:solidFill>
            </a:endParaRPr>
          </a:p>
          <a:p>
            <a:pPr algn="just"/>
            <a:endParaRPr lang="en-US" sz="2400" dirty="0">
              <a:solidFill>
                <a:schemeClr val="tx1"/>
              </a:solidFill>
            </a:endParaRPr>
          </a:p>
          <a:p>
            <a:pPr algn="just"/>
            <a:r>
              <a:rPr lang="en-US" sz="2400" b="1" dirty="0">
                <a:solidFill>
                  <a:schemeClr val="tx1"/>
                </a:solidFill>
              </a:rPr>
              <a:t>Autonomy</a:t>
            </a:r>
            <a:r>
              <a:rPr lang="en-US" sz="2400" dirty="0">
                <a:solidFill>
                  <a:schemeClr val="tx1"/>
                </a:solidFill>
              </a:rPr>
              <a:t> - an agent doesn't need the user's input to function.</a:t>
            </a:r>
            <a:endParaRPr lang="en-US" sz="2400" dirty="0">
              <a:solidFill>
                <a:schemeClr val="tx1"/>
              </a:solidFill>
            </a:endParaRPr>
          </a:p>
          <a:p>
            <a:pPr algn="just"/>
            <a:endParaRPr lang="en-US" sz="2400" dirty="0">
              <a:solidFill>
                <a:schemeClr val="tx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DIFFERENT AGENTS</a:t>
            </a:r>
            <a:endParaRPr lang="en-US" dirty="0"/>
          </a:p>
        </p:txBody>
      </p:sp>
      <p:sp>
        <p:nvSpPr>
          <p:cNvPr id="5" name="TextBox 4"/>
          <p:cNvSpPr txBox="1"/>
          <p:nvPr/>
        </p:nvSpPr>
        <p:spPr>
          <a:xfrm>
            <a:off x="249383" y="2244436"/>
            <a:ext cx="8409707" cy="3785652"/>
          </a:xfrm>
          <a:prstGeom prst="rect">
            <a:avLst/>
          </a:prstGeom>
          <a:noFill/>
        </p:spPr>
        <p:txBody>
          <a:bodyPr wrap="square" rtlCol="0">
            <a:spAutoFit/>
          </a:bodyPr>
          <a:lstStyle/>
          <a:p>
            <a:pPr algn="just"/>
            <a:r>
              <a:rPr lang="en-US" sz="2400" b="1" dirty="0"/>
              <a:t>A human agent </a:t>
            </a:r>
            <a:r>
              <a:rPr lang="en-US" sz="2400" dirty="0"/>
              <a:t>has eyes, ears, and other organs for sensors and hands, legs, vocal tract, and so on for actuators. </a:t>
            </a:r>
            <a:endParaRPr lang="en-US" sz="2400" dirty="0"/>
          </a:p>
          <a:p>
            <a:pPr algn="just"/>
            <a:endParaRPr lang="en-US" sz="2400" dirty="0"/>
          </a:p>
          <a:p>
            <a:pPr algn="just"/>
            <a:r>
              <a:rPr lang="en-US" sz="2400" b="1" dirty="0"/>
              <a:t>A robotic agent</a:t>
            </a:r>
            <a:r>
              <a:rPr lang="en-US" sz="2400" dirty="0"/>
              <a:t> might have cameras and infrared range finders for sensors and various motors for actuators. </a:t>
            </a:r>
            <a:endParaRPr lang="en-US" sz="2400" dirty="0"/>
          </a:p>
          <a:p>
            <a:pPr algn="just"/>
            <a:endParaRPr lang="en-US" sz="2400" dirty="0"/>
          </a:p>
          <a:p>
            <a:pPr algn="just"/>
            <a:r>
              <a:rPr lang="en-US" sz="2400" b="1" dirty="0"/>
              <a:t>A software agent </a:t>
            </a:r>
            <a:r>
              <a:rPr lang="en-US" sz="2400" dirty="0"/>
              <a:t>receives keystrokes, file contents, and network packets as sensory inputs and acts on the environment by displaying on the screen, writing files, and sending network packets.</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AGENTS</a:t>
            </a:r>
            <a:endParaRPr lang="en-US" dirty="0"/>
          </a:p>
        </p:txBody>
      </p:sp>
      <p:sp>
        <p:nvSpPr>
          <p:cNvPr id="5" name="TextBox 4"/>
          <p:cNvSpPr txBox="1"/>
          <p:nvPr/>
        </p:nvSpPr>
        <p:spPr>
          <a:xfrm>
            <a:off x="249383" y="2244436"/>
            <a:ext cx="8409707" cy="3416320"/>
          </a:xfrm>
          <a:prstGeom prst="rect">
            <a:avLst/>
          </a:prstGeom>
          <a:noFill/>
        </p:spPr>
        <p:txBody>
          <a:bodyPr wrap="square" rtlCol="0">
            <a:spAutoFit/>
          </a:bodyPr>
          <a:lstStyle/>
          <a:p>
            <a:pPr algn="just"/>
            <a:r>
              <a:rPr lang="en-US" sz="2400" dirty="0"/>
              <a:t>The term </a:t>
            </a:r>
            <a:r>
              <a:rPr lang="en-US" sz="2400" b="1" dirty="0"/>
              <a:t>percept</a:t>
            </a:r>
            <a:r>
              <a:rPr lang="en-US" sz="2400" dirty="0"/>
              <a:t> refers to the agent’s perceptual inputs at any given instant. </a:t>
            </a:r>
            <a:endParaRPr lang="en-US" sz="2400" dirty="0"/>
          </a:p>
          <a:p>
            <a:pPr algn="just"/>
            <a:endParaRPr lang="en-US" sz="2400" dirty="0"/>
          </a:p>
          <a:p>
            <a:pPr algn="just"/>
            <a:r>
              <a:rPr lang="en-US" sz="2400" dirty="0"/>
              <a:t>An agent’s </a:t>
            </a:r>
            <a:r>
              <a:rPr lang="en-US" sz="2400" b="1" dirty="0"/>
              <a:t>percept sequence </a:t>
            </a:r>
            <a:r>
              <a:rPr lang="en-US" sz="2400" dirty="0"/>
              <a:t>is the complete history of everything the agent has ever perceived.</a:t>
            </a:r>
            <a:endParaRPr lang="en-US" sz="2400" dirty="0"/>
          </a:p>
          <a:p>
            <a:pPr algn="just"/>
            <a:endParaRPr lang="en-US" sz="2400" dirty="0"/>
          </a:p>
          <a:p>
            <a:pPr algn="just"/>
            <a:r>
              <a:rPr lang="en-US" sz="2400" dirty="0"/>
              <a:t>In general, an agent’s choice of </a:t>
            </a:r>
            <a:r>
              <a:rPr lang="en-US" sz="2400" b="1" dirty="0"/>
              <a:t>action</a:t>
            </a:r>
            <a:r>
              <a:rPr lang="en-US" sz="2400" dirty="0"/>
              <a:t> at any given instant can depend on the entire </a:t>
            </a:r>
            <a:r>
              <a:rPr lang="en-US" sz="2400" b="1" dirty="0"/>
              <a:t>percept sequence </a:t>
            </a:r>
            <a:r>
              <a:rPr lang="en-US" sz="2400" dirty="0"/>
              <a:t>observed to date, but not on anything it hasn’t perceived.</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573696"/>
            <a:ext cx="7808976" cy="1088136"/>
          </a:xfrm>
        </p:spPr>
        <p:txBody>
          <a:bodyPr>
            <a:normAutofit/>
          </a:bodyPr>
          <a:lstStyle/>
          <a:p>
            <a:r>
              <a:rPr lang="en-US" dirty="0"/>
              <a:t>AGENT  FUNCTION</a:t>
            </a:r>
            <a:endParaRPr lang="en-US" dirty="0"/>
          </a:p>
        </p:txBody>
      </p:sp>
      <p:sp>
        <p:nvSpPr>
          <p:cNvPr id="5" name="TextBox 4"/>
          <p:cNvSpPr txBox="1"/>
          <p:nvPr/>
        </p:nvSpPr>
        <p:spPr>
          <a:xfrm>
            <a:off x="249383" y="2244436"/>
            <a:ext cx="8409707" cy="3785652"/>
          </a:xfrm>
          <a:prstGeom prst="rect">
            <a:avLst/>
          </a:prstGeom>
          <a:noFill/>
        </p:spPr>
        <p:txBody>
          <a:bodyPr wrap="square" rtlCol="0">
            <a:spAutoFit/>
          </a:bodyPr>
          <a:lstStyle/>
          <a:p>
            <a:pPr algn="just"/>
            <a:r>
              <a:rPr lang="en-US" sz="2400" dirty="0"/>
              <a:t>The agent’s choice of action for every possible percept sequence can be defined.</a:t>
            </a:r>
            <a:endParaRPr lang="en-US" sz="2400" dirty="0"/>
          </a:p>
          <a:p>
            <a:pPr algn="just"/>
            <a:endParaRPr lang="en-US" sz="2400" dirty="0"/>
          </a:p>
          <a:p>
            <a:pPr algn="just"/>
            <a:r>
              <a:rPr lang="en-US" sz="2400" dirty="0"/>
              <a:t>An agent’s behavior is described by the </a:t>
            </a:r>
            <a:r>
              <a:rPr lang="en-US" sz="2400" b="1" dirty="0"/>
              <a:t>agent function </a:t>
            </a:r>
            <a:r>
              <a:rPr lang="en-US" sz="2400" dirty="0"/>
              <a:t>that maps any given percept sequence to an action.</a:t>
            </a:r>
            <a:endParaRPr lang="en-US" sz="2400" dirty="0"/>
          </a:p>
          <a:p>
            <a:pPr algn="just"/>
            <a:endParaRPr lang="en-US" sz="2400" dirty="0"/>
          </a:p>
          <a:p>
            <a:pPr algn="just"/>
            <a:r>
              <a:rPr lang="en-US" sz="2400" dirty="0"/>
              <a:t>We can imagine tabulating the agent function that describes any given agent; for most agents, this would be a very large table—infinite, in fact, unless we place a bound on the length of percept sequences we want to consider.</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573696"/>
            <a:ext cx="7808976" cy="1088136"/>
          </a:xfrm>
        </p:spPr>
        <p:txBody>
          <a:bodyPr>
            <a:normAutofit/>
          </a:bodyPr>
          <a:lstStyle/>
          <a:p>
            <a:r>
              <a:rPr lang="en-US" dirty="0"/>
              <a:t>AGENT  PROGRAM</a:t>
            </a:r>
            <a:endParaRPr lang="en-US" dirty="0"/>
          </a:p>
        </p:txBody>
      </p:sp>
      <p:sp>
        <p:nvSpPr>
          <p:cNvPr id="5" name="TextBox 4"/>
          <p:cNvSpPr txBox="1"/>
          <p:nvPr/>
        </p:nvSpPr>
        <p:spPr>
          <a:xfrm>
            <a:off x="249383" y="2244436"/>
            <a:ext cx="8409707" cy="3785652"/>
          </a:xfrm>
          <a:prstGeom prst="rect">
            <a:avLst/>
          </a:prstGeom>
          <a:noFill/>
        </p:spPr>
        <p:txBody>
          <a:bodyPr wrap="square" rtlCol="0">
            <a:spAutoFit/>
          </a:bodyPr>
          <a:lstStyle/>
          <a:p>
            <a:pPr algn="just"/>
            <a:r>
              <a:rPr lang="en-US" sz="2400" dirty="0"/>
              <a:t>The table can be constructed by trying out all possible percept sequences and recording which actions the agent does in response. Thus, the table is, of course, an external characterization of the agent. Internally, the agent function for an artificial agent will be implemented by an </a:t>
            </a:r>
            <a:r>
              <a:rPr lang="en-US" sz="2400" b="1" dirty="0"/>
              <a:t>agent program</a:t>
            </a:r>
            <a:r>
              <a:rPr lang="en-US" sz="2400" dirty="0"/>
              <a:t>. </a:t>
            </a:r>
            <a:endParaRPr lang="en-US" sz="2400" dirty="0"/>
          </a:p>
          <a:p>
            <a:pPr algn="just"/>
            <a:endParaRPr lang="en-US" sz="2400" dirty="0"/>
          </a:p>
          <a:p>
            <a:pPr algn="just"/>
            <a:r>
              <a:rPr lang="en-US" sz="2400" dirty="0"/>
              <a:t>It is important to keep these two ideas distinct. The </a:t>
            </a:r>
            <a:r>
              <a:rPr lang="en-US" sz="2400" b="1" dirty="0"/>
              <a:t>agent function </a:t>
            </a:r>
            <a:r>
              <a:rPr lang="en-US" sz="2400" dirty="0"/>
              <a:t>is an abstract mathematical description; the </a:t>
            </a:r>
            <a:r>
              <a:rPr lang="en-US" sz="2400" b="1" dirty="0"/>
              <a:t>agent program</a:t>
            </a:r>
            <a:r>
              <a:rPr lang="en-US" sz="2400" dirty="0"/>
              <a:t> is a concrete implementation, running within some physical system.</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b="1" dirty="0"/>
              <a:t>AGENT FUNCTION</a:t>
            </a:r>
            <a:endParaRPr lang="en-US" dirty="0"/>
          </a:p>
        </p:txBody>
      </p:sp>
      <p:sp>
        <p:nvSpPr>
          <p:cNvPr id="3" name="Content Placeholder 2"/>
          <p:cNvSpPr txBox="1"/>
          <p:nvPr/>
        </p:nvSpPr>
        <p:spPr>
          <a:xfrm>
            <a:off x="227013" y="2025748"/>
            <a:ext cx="8565296" cy="1479452"/>
          </a:xfrm>
          <a:prstGeom prst="rect">
            <a:avLst/>
          </a:prstGeom>
        </p:spPr>
        <p:txBody>
          <a:bodyPr vert="horz" lIns="91440" tIns="45720" rIns="91440" bIns="45720" rtlCol="0">
            <a:normAutofit fontScale="92500" lnSpcReduction="10000"/>
          </a:bodyPr>
          <a:lstStyle>
            <a:lvl1pPr marL="0" indent="0" algn="l" defTabSz="914400" rtl="0" eaLnBrk="1" latinLnBrk="0" hangingPunct="1">
              <a:lnSpc>
                <a:spcPct val="100000"/>
              </a:lnSpc>
              <a:spcBef>
                <a:spcPts val="0"/>
              </a:spcBef>
              <a:buClr>
                <a:schemeClr val="bg1">
                  <a:lumMod val="65000"/>
                </a:schemeClr>
              </a:buClr>
              <a:buSzPct val="90000"/>
              <a:buFont typeface="Wingdings" panose="05000000000000000000"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anose="05000000000000000000"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anose="05000000000000000000"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9pPr>
          </a:lstStyle>
          <a:p>
            <a:pPr algn="just"/>
            <a:r>
              <a:rPr lang="en-US" sz="2200" dirty="0">
                <a:solidFill>
                  <a:schemeClr val="tx1"/>
                </a:solidFill>
              </a:rPr>
              <a:t>The agent function is a mathematical function that maps a sequence of perceptions into action.</a:t>
            </a:r>
            <a:endParaRPr lang="en-US" sz="2200" dirty="0">
              <a:solidFill>
                <a:schemeClr val="tx1"/>
              </a:solidFill>
            </a:endParaRPr>
          </a:p>
          <a:p>
            <a:pPr algn="just"/>
            <a:r>
              <a:rPr lang="en-US" sz="2200" dirty="0">
                <a:solidFill>
                  <a:schemeClr val="tx1"/>
                </a:solidFill>
              </a:rPr>
              <a:t>The </a:t>
            </a:r>
            <a:r>
              <a:rPr lang="en-US" sz="2200" b="1" dirty="0">
                <a:solidFill>
                  <a:schemeClr val="tx1"/>
                </a:solidFill>
              </a:rPr>
              <a:t>function</a:t>
            </a:r>
            <a:r>
              <a:rPr lang="en-US" sz="2200" dirty="0">
                <a:solidFill>
                  <a:schemeClr val="tx1"/>
                </a:solidFill>
              </a:rPr>
              <a:t> is implemented as the </a:t>
            </a:r>
            <a:r>
              <a:rPr lang="en-US" sz="2200" b="1" dirty="0">
                <a:solidFill>
                  <a:schemeClr val="tx1"/>
                </a:solidFill>
              </a:rPr>
              <a:t>agent program</a:t>
            </a:r>
            <a:r>
              <a:rPr lang="en-US" sz="2200" dirty="0">
                <a:solidFill>
                  <a:schemeClr val="tx1"/>
                </a:solidFill>
              </a:rPr>
              <a:t>.</a:t>
            </a:r>
            <a:endParaRPr lang="en-US" sz="2200" dirty="0">
              <a:solidFill>
                <a:schemeClr val="tx1"/>
              </a:solidFill>
            </a:endParaRPr>
          </a:p>
          <a:p>
            <a:pPr algn="just"/>
            <a:r>
              <a:rPr lang="en-US" sz="2200" dirty="0">
                <a:solidFill>
                  <a:schemeClr val="tx1"/>
                </a:solidFill>
              </a:rPr>
              <a:t>The part of the agent taking an action is called an actuator.</a:t>
            </a:r>
            <a:endParaRPr lang="en-US" sz="2200" dirty="0">
              <a:solidFill>
                <a:schemeClr val="tx1"/>
              </a:solidFill>
            </a:endParaRPr>
          </a:p>
          <a:p>
            <a:pPr algn="just"/>
            <a:r>
              <a:rPr lang="en-US" sz="2200" dirty="0">
                <a:solidFill>
                  <a:schemeClr val="tx1"/>
                </a:solidFill>
              </a:rPr>
              <a:t>environment -&gt; sensors -&gt; agent function -&gt; actuators -&gt; environment</a:t>
            </a:r>
            <a:endParaRPr lang="en-US" sz="2200" dirty="0">
              <a:solidFill>
                <a:schemeClr val="tx1"/>
              </a:solidFill>
            </a:endParaRPr>
          </a:p>
          <a:p>
            <a:pPr algn="just"/>
            <a:endParaRPr lang="en-US" sz="2200" dirty="0">
              <a:solidFill>
                <a:schemeClr val="tx1"/>
              </a:solidFill>
            </a:endParaRPr>
          </a:p>
        </p:txBody>
      </p:sp>
      <p:pic>
        <p:nvPicPr>
          <p:cNvPr id="4" name="Picture 3"/>
          <p:cNvPicPr>
            <a:picLocks noChangeAspect="1"/>
          </p:cNvPicPr>
          <p:nvPr/>
        </p:nvPicPr>
        <p:blipFill>
          <a:blip r:embed="rId1"/>
          <a:stretch>
            <a:fillRect/>
          </a:stretch>
        </p:blipFill>
        <p:spPr>
          <a:xfrm>
            <a:off x="166261" y="3505200"/>
            <a:ext cx="8686800" cy="33528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VACUUM CLEANING AGENT</a:t>
            </a:r>
            <a:endParaRPr lang="en-US" dirty="0"/>
          </a:p>
        </p:txBody>
      </p:sp>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64288" y="1993323"/>
            <a:ext cx="8779712" cy="3964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VACUUM CLEANING AGENT</a:t>
            </a:r>
            <a:endParaRPr lang="en-US" dirty="0"/>
          </a:p>
        </p:txBody>
      </p:sp>
      <p:pic>
        <p:nvPicPr>
          <p:cNvPr id="3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43014" y="2036618"/>
            <a:ext cx="7988368" cy="4630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VACUUM CLEANING AGENT</a:t>
            </a:r>
            <a:endParaRPr lang="en-US" dirty="0"/>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40327" y="2757487"/>
            <a:ext cx="7827385" cy="231327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6253" y="463073"/>
            <a:ext cx="7808976" cy="1088136"/>
          </a:xfrm>
        </p:spPr>
        <p:txBody>
          <a:bodyPr>
            <a:normAutofit fontScale="90000"/>
          </a:bodyPr>
          <a:lstStyle/>
          <a:p>
            <a:r>
              <a:rPr lang="en-US" dirty="0"/>
              <a:t>DESIRABLE PROPERTIES OF AGENT</a:t>
            </a:r>
            <a:endParaRPr lang="en-US" dirty="0"/>
          </a:p>
        </p:txBody>
      </p:sp>
      <p:pic>
        <p:nvPicPr>
          <p:cNvPr id="3" name="Picture 2"/>
          <p:cNvPicPr>
            <a:picLocks noChangeAspect="1"/>
          </p:cNvPicPr>
          <p:nvPr/>
        </p:nvPicPr>
        <p:blipFill>
          <a:blip r:embed="rId1"/>
          <a:stretch>
            <a:fillRect/>
          </a:stretch>
        </p:blipFill>
        <p:spPr>
          <a:xfrm>
            <a:off x="443346" y="1983545"/>
            <a:ext cx="8035636" cy="428361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6253" y="463073"/>
            <a:ext cx="7808976" cy="1088136"/>
          </a:xfrm>
        </p:spPr>
        <p:txBody>
          <a:bodyPr>
            <a:normAutofit fontScale="90000"/>
          </a:bodyPr>
          <a:lstStyle/>
          <a:p>
            <a:r>
              <a:rPr lang="en-US" dirty="0"/>
              <a:t>DESIRABLE PROPERTIES OF AGENT</a:t>
            </a:r>
            <a:endParaRPr lang="en-US" dirty="0"/>
          </a:p>
        </p:txBody>
      </p:sp>
      <p:sp>
        <p:nvSpPr>
          <p:cNvPr id="4" name="Subtitle 4"/>
          <p:cNvSpPr>
            <a:spLocks noGrp="1"/>
          </p:cNvSpPr>
          <p:nvPr>
            <p:ph type="subTitle" idx="1"/>
          </p:nvPr>
        </p:nvSpPr>
        <p:spPr>
          <a:xfrm>
            <a:off x="476205" y="1532427"/>
            <a:ext cx="7754112" cy="484632"/>
          </a:xfrm>
        </p:spPr>
        <p:txBody>
          <a:bodyPr/>
          <a:lstStyle/>
          <a:p>
            <a:r>
              <a:rPr lang="en-US" dirty="0"/>
              <a:t>Continued</a:t>
            </a:r>
            <a:r>
              <a:rPr lang="x-none" dirty="0"/>
              <a:t>..</a:t>
            </a:r>
            <a:endParaRPr lang="x-none" dirty="0"/>
          </a:p>
        </p:txBody>
      </p:sp>
      <p:pic>
        <p:nvPicPr>
          <p:cNvPr id="5" name="Picture 4"/>
          <p:cNvPicPr>
            <a:picLocks noChangeAspect="1"/>
          </p:cNvPicPr>
          <p:nvPr/>
        </p:nvPicPr>
        <p:blipFill>
          <a:blip r:embed="rId1"/>
          <a:stretch>
            <a:fillRect/>
          </a:stretch>
        </p:blipFill>
        <p:spPr>
          <a:xfrm>
            <a:off x="346364" y="2027329"/>
            <a:ext cx="8451486" cy="457624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6253" y="463073"/>
            <a:ext cx="7808976" cy="1088136"/>
          </a:xfrm>
        </p:spPr>
        <p:txBody>
          <a:bodyPr>
            <a:normAutofit fontScale="90000"/>
          </a:bodyPr>
          <a:lstStyle/>
          <a:p>
            <a:r>
              <a:rPr lang="en-US" dirty="0"/>
              <a:t>DESIRABLE PROPERTIES OF AGENT</a:t>
            </a:r>
            <a:endParaRPr lang="en-US" dirty="0"/>
          </a:p>
        </p:txBody>
      </p:sp>
      <p:sp>
        <p:nvSpPr>
          <p:cNvPr id="4" name="Subtitle 4"/>
          <p:cNvSpPr>
            <a:spLocks noGrp="1"/>
          </p:cNvSpPr>
          <p:nvPr>
            <p:ph type="subTitle" idx="1"/>
          </p:nvPr>
        </p:nvSpPr>
        <p:spPr>
          <a:xfrm>
            <a:off x="476205" y="1532427"/>
            <a:ext cx="7754112" cy="484632"/>
          </a:xfrm>
        </p:spPr>
        <p:txBody>
          <a:bodyPr/>
          <a:lstStyle/>
          <a:p>
            <a:r>
              <a:rPr lang="en-US" dirty="0"/>
              <a:t>Continued</a:t>
            </a:r>
            <a:r>
              <a:rPr lang="x-none" dirty="0"/>
              <a:t>..</a:t>
            </a:r>
            <a:endParaRPr lang="x-none" dirty="0"/>
          </a:p>
        </p:txBody>
      </p:sp>
      <p:pic>
        <p:nvPicPr>
          <p:cNvPr id="6" name="Picture 5"/>
          <p:cNvPicPr>
            <a:picLocks noChangeAspect="1"/>
          </p:cNvPicPr>
          <p:nvPr/>
        </p:nvPicPr>
        <p:blipFill>
          <a:blip r:embed="rId1"/>
          <a:stretch>
            <a:fillRect/>
          </a:stretch>
        </p:blipFill>
        <p:spPr>
          <a:xfrm>
            <a:off x="332509" y="2114041"/>
            <a:ext cx="8325089" cy="383613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2193" y="603752"/>
            <a:ext cx="7808976" cy="1088136"/>
          </a:xfrm>
        </p:spPr>
        <p:txBody>
          <a:bodyPr>
            <a:normAutofit fontScale="90000"/>
          </a:bodyPr>
          <a:lstStyle/>
          <a:p>
            <a:br>
              <a:rPr lang="en-US" sz="3600" b="1" dirty="0">
                <a:cs typeface="_PDMS_IslamicFont" pitchFamily="2" charset="-78"/>
              </a:rPr>
            </a:br>
            <a:r>
              <a:rPr lang="en-US" sz="3600" b="1" dirty="0">
                <a:cs typeface="_PDMS_IslamicFont" pitchFamily="2" charset="-78"/>
              </a:rPr>
              <a:t>GOOD BEHAVIOR: </a:t>
            </a:r>
            <a:br>
              <a:rPr lang="en-US" sz="3600" b="1" dirty="0">
                <a:cs typeface="_PDMS_IslamicFont" pitchFamily="2" charset="-78"/>
              </a:rPr>
            </a:br>
            <a:r>
              <a:rPr lang="en-US" sz="4400" b="1" dirty="0">
                <a:cs typeface="_PDMS_IslamicFont" pitchFamily="2" charset="-78"/>
              </a:rPr>
              <a:t>THE CONCEPT OF RATIONALITY</a:t>
            </a:r>
            <a:r>
              <a:rPr lang="en-US" sz="3600" b="1" dirty="0">
                <a:cs typeface="_PDMS_IslamicFont" pitchFamily="2" charset="-78"/>
              </a:rPr>
              <a:t> </a:t>
            </a:r>
            <a:endParaRPr lang="en-US" sz="3600" b="1" dirty="0">
              <a:cs typeface="_PDMS_IslamicFont" pitchFamily="2" charset="-78"/>
            </a:endParaRPr>
          </a:p>
        </p:txBody>
      </p:sp>
      <p:sp>
        <p:nvSpPr>
          <p:cNvPr id="10" name="TextBox 9"/>
          <p:cNvSpPr txBox="1"/>
          <p:nvPr/>
        </p:nvSpPr>
        <p:spPr>
          <a:xfrm>
            <a:off x="609600" y="1958928"/>
            <a:ext cx="7980218" cy="954107"/>
          </a:xfrm>
          <a:prstGeom prst="rect">
            <a:avLst/>
          </a:prstGeom>
          <a:noFill/>
        </p:spPr>
        <p:txBody>
          <a:bodyPr wrap="square" rtlCol="0">
            <a:spAutoFit/>
          </a:bodyPr>
          <a:lstStyle/>
          <a:p>
            <a:r>
              <a:rPr lang="en-US" sz="2000" b="1" dirty="0">
                <a:latin typeface="_PDMS_IslamicFont" pitchFamily="2" charset="-78"/>
                <a:cs typeface="_PDMS_IslamicFont" pitchFamily="2" charset="-78"/>
              </a:rPr>
              <a:t>Rational Agent</a:t>
            </a:r>
            <a:endParaRPr lang="en-US" sz="3200" b="1" dirty="0">
              <a:latin typeface="_PDMS_IslamicFont" pitchFamily="2" charset="-78"/>
              <a:cs typeface="_PDMS_IslamicFont" pitchFamily="2" charset="-78"/>
            </a:endParaRPr>
          </a:p>
          <a:p>
            <a:r>
              <a:rPr lang="en-US" sz="1600" dirty="0">
                <a:latin typeface="_PDMS_IslamicFont" pitchFamily="2" charset="-78"/>
                <a:cs typeface="_PDMS_IslamicFont" pitchFamily="2" charset="-78"/>
              </a:rPr>
              <a:t>	-</a:t>
            </a:r>
            <a:r>
              <a:rPr lang="en-US" dirty="0">
                <a:latin typeface="_PDMS_IslamicFont" pitchFamily="2" charset="-78"/>
                <a:cs typeface="_PDMS_IslamicFont" pitchFamily="2" charset="-78"/>
              </a:rPr>
              <a:t> one does the right thing</a:t>
            </a:r>
            <a:endParaRPr lang="en-US" dirty="0">
              <a:latin typeface="_PDMS_IslamicFont" pitchFamily="2" charset="-78"/>
              <a:cs typeface="_PDMS_IslamicFont" pitchFamily="2" charset="-78"/>
            </a:endParaRPr>
          </a:p>
          <a:p>
            <a:r>
              <a:rPr lang="en-US" dirty="0">
                <a:latin typeface="_PDMS_IslamicFont" pitchFamily="2" charset="-78"/>
                <a:cs typeface="_PDMS_IslamicFont" pitchFamily="2" charset="-78"/>
              </a:rPr>
              <a:t>	- Every entry in the table for the agent function is filled out correctly</a:t>
            </a:r>
            <a:endParaRPr lang="en-US" dirty="0">
              <a:latin typeface="_PDMS_IslamicFont" pitchFamily="2" charset="-78"/>
              <a:cs typeface="_PDMS_IslamicFont" pitchFamily="2" charset="-78"/>
            </a:endParaRPr>
          </a:p>
        </p:txBody>
      </p:sp>
      <p:sp>
        <p:nvSpPr>
          <p:cNvPr id="12" name="Rectangle 11"/>
          <p:cNvSpPr/>
          <p:nvPr/>
        </p:nvSpPr>
        <p:spPr>
          <a:xfrm>
            <a:off x="609600" y="2913035"/>
            <a:ext cx="7599330" cy="646331"/>
          </a:xfrm>
          <a:prstGeom prst="rect">
            <a:avLst/>
          </a:prstGeom>
        </p:spPr>
        <p:txBody>
          <a:bodyPr wrap="square">
            <a:spAutoFit/>
          </a:bodyPr>
          <a:lstStyle/>
          <a:p>
            <a:r>
              <a:rPr lang="en-US" b="1" dirty="0">
                <a:latin typeface="_PDMS_IslamicFont" pitchFamily="2" charset="-78"/>
                <a:cs typeface="_PDMS_IslamicFont" pitchFamily="2" charset="-78"/>
              </a:rPr>
              <a:t>What does it mean to do the right thing ? </a:t>
            </a:r>
            <a:endParaRPr lang="en-US" dirty="0"/>
          </a:p>
          <a:p>
            <a:r>
              <a:rPr lang="en-US" dirty="0"/>
              <a:t>by considering the </a:t>
            </a:r>
            <a:r>
              <a:rPr lang="en-US" i="1" dirty="0"/>
              <a:t>consequences  </a:t>
            </a:r>
            <a:r>
              <a:rPr lang="en-US" dirty="0"/>
              <a:t>of the agent's behavior </a:t>
            </a:r>
            <a:endParaRPr lang="en-US" dirty="0"/>
          </a:p>
        </p:txBody>
      </p:sp>
      <p:sp>
        <p:nvSpPr>
          <p:cNvPr id="13" name="Rectangle 12"/>
          <p:cNvSpPr/>
          <p:nvPr/>
        </p:nvSpPr>
        <p:spPr>
          <a:xfrm>
            <a:off x="609600" y="3599798"/>
            <a:ext cx="8233896" cy="2554545"/>
          </a:xfrm>
          <a:prstGeom prst="rect">
            <a:avLst/>
          </a:prstGeom>
        </p:spPr>
        <p:txBody>
          <a:bodyPr wrap="square">
            <a:spAutoFit/>
          </a:bodyPr>
          <a:lstStyle/>
          <a:p>
            <a:pPr algn="just"/>
            <a:r>
              <a:rPr lang="en-US" sz="2000" dirty="0"/>
              <a:t>When an agent is plunked down in an </a:t>
            </a:r>
            <a:r>
              <a:rPr lang="en-US" sz="2000" b="1" dirty="0"/>
              <a:t>environment</a:t>
            </a:r>
            <a:r>
              <a:rPr lang="en-US" sz="2000" dirty="0"/>
              <a:t>, it generates a sequence of </a:t>
            </a:r>
            <a:r>
              <a:rPr lang="en-US" sz="2000" b="1" dirty="0"/>
              <a:t>actions</a:t>
            </a:r>
            <a:r>
              <a:rPr lang="en-US" sz="2000" dirty="0"/>
              <a:t> according to the </a:t>
            </a:r>
            <a:r>
              <a:rPr lang="en-US" sz="2000" b="1" dirty="0"/>
              <a:t>percepts</a:t>
            </a:r>
            <a:r>
              <a:rPr lang="en-US" sz="2000" dirty="0"/>
              <a:t> it receives. </a:t>
            </a:r>
            <a:endParaRPr lang="en-US" sz="2000" dirty="0"/>
          </a:p>
          <a:p>
            <a:pPr algn="just"/>
            <a:endParaRPr lang="en-US" sz="2000" dirty="0"/>
          </a:p>
          <a:p>
            <a:pPr algn="just"/>
            <a:r>
              <a:rPr lang="en-US" sz="2000" dirty="0"/>
              <a:t>This sequence of </a:t>
            </a:r>
            <a:r>
              <a:rPr lang="en-US" sz="2000" b="1" dirty="0"/>
              <a:t>actions</a:t>
            </a:r>
            <a:r>
              <a:rPr lang="en-US" sz="2000" dirty="0"/>
              <a:t> causes the </a:t>
            </a:r>
            <a:r>
              <a:rPr lang="en-US" sz="2000" b="1" dirty="0"/>
              <a:t>environment</a:t>
            </a:r>
            <a:r>
              <a:rPr lang="en-US" sz="2000" dirty="0"/>
              <a:t> to go through a sequence of </a:t>
            </a:r>
            <a:r>
              <a:rPr lang="en-US" sz="2000" b="1" dirty="0"/>
              <a:t>states</a:t>
            </a:r>
            <a:r>
              <a:rPr lang="en-US" sz="2000" dirty="0"/>
              <a:t>. If the sequence is desirable, then the agent has performed well. </a:t>
            </a:r>
            <a:endParaRPr lang="en-US" sz="2000" dirty="0"/>
          </a:p>
          <a:p>
            <a:pPr algn="just"/>
            <a:endParaRPr lang="en-US" sz="2000" dirty="0"/>
          </a:p>
          <a:p>
            <a:pPr algn="just"/>
            <a:r>
              <a:rPr lang="en-US" sz="2000" dirty="0"/>
              <a:t>This notion of desirability is captured by a </a:t>
            </a:r>
            <a:r>
              <a:rPr lang="en-US" sz="2000" b="1" dirty="0"/>
              <a:t>performance measure </a:t>
            </a:r>
            <a:r>
              <a:rPr lang="en-US" sz="2000" dirty="0"/>
              <a:t>that evaluates any given sequence of environment states.</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b="1" dirty="0"/>
              <a:t>RATIONAL AGENT</a:t>
            </a:r>
            <a:endParaRPr lang="en-US" dirty="0"/>
          </a:p>
        </p:txBody>
      </p:sp>
      <p:sp>
        <p:nvSpPr>
          <p:cNvPr id="3" name="Content Placeholder 2"/>
          <p:cNvSpPr txBox="1"/>
          <p:nvPr/>
        </p:nvSpPr>
        <p:spPr>
          <a:xfrm>
            <a:off x="421341" y="2265920"/>
            <a:ext cx="8201892" cy="3493307"/>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anose="05000000000000000000"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anose="05000000000000000000"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anose="05000000000000000000"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9pPr>
          </a:lstStyle>
          <a:p>
            <a:pPr algn="just"/>
            <a:r>
              <a:rPr lang="en-US" sz="2400" dirty="0">
                <a:solidFill>
                  <a:schemeClr val="tx1"/>
                </a:solidFill>
              </a:rPr>
              <a:t>A rational agent is one that can take the right decision in every situation.</a:t>
            </a:r>
            <a:endParaRPr lang="en-US" sz="2400" dirty="0">
              <a:solidFill>
                <a:schemeClr val="tx1"/>
              </a:solidFill>
            </a:endParaRPr>
          </a:p>
          <a:p>
            <a:pPr algn="just"/>
            <a:endParaRPr lang="en-US" sz="2400" dirty="0">
              <a:solidFill>
                <a:schemeClr val="tx1"/>
              </a:solidFill>
            </a:endParaRPr>
          </a:p>
          <a:p>
            <a:pPr algn="just"/>
            <a:r>
              <a:rPr lang="en-US" sz="2400" dirty="0">
                <a:solidFill>
                  <a:schemeClr val="tx1"/>
                </a:solidFill>
              </a:rPr>
              <a:t>Performance measure: a set of criteria/test bed for the success of the agent's behavior.</a:t>
            </a:r>
            <a:endParaRPr lang="en-US" sz="2400" dirty="0">
              <a:solidFill>
                <a:schemeClr val="tx1"/>
              </a:solidFill>
            </a:endParaRPr>
          </a:p>
          <a:p>
            <a:pPr algn="just"/>
            <a:endParaRPr lang="en-US" sz="2400" dirty="0">
              <a:solidFill>
                <a:schemeClr val="tx1"/>
              </a:solidFill>
            </a:endParaRPr>
          </a:p>
          <a:p>
            <a:pPr algn="just"/>
            <a:r>
              <a:rPr lang="en-US" sz="2400" dirty="0">
                <a:solidFill>
                  <a:schemeClr val="tx1"/>
                </a:solidFill>
              </a:rPr>
              <a:t>The performance measures should be based on the desired effect of the agent on the environment.</a:t>
            </a:r>
            <a:endParaRPr lang="en-US" sz="2400" dirty="0">
              <a:solidFill>
                <a:schemeClr val="tx1"/>
              </a:solidFill>
            </a:endParaRPr>
          </a:p>
          <a:p>
            <a:pPr algn="just"/>
            <a:endParaRPr lang="en-US" sz="2400" dirty="0">
              <a:solidFill>
                <a:schemeClr val="tx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b="1" dirty="0"/>
              <a:t>RATIONALITY</a:t>
            </a:r>
            <a:endParaRPr lang="en-US" dirty="0"/>
          </a:p>
        </p:txBody>
      </p:sp>
      <p:sp>
        <p:nvSpPr>
          <p:cNvPr id="3" name="Content Placeholder 2"/>
          <p:cNvSpPr txBox="1"/>
          <p:nvPr/>
        </p:nvSpPr>
        <p:spPr>
          <a:xfrm>
            <a:off x="290945" y="2220992"/>
            <a:ext cx="8295676" cy="3764172"/>
          </a:xfrm>
          <a:prstGeom prst="rect">
            <a:avLst/>
          </a:prstGeom>
        </p:spPr>
        <p:txBody>
          <a:bodyPr vert="horz" lIns="91440" tIns="45720" rIns="91440" bIns="45720" rtlCol="0">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anose="05000000000000000000"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4pPr>
            <a:lvl5pPr marL="1279525"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5pPr>
            <a:lvl6pPr marL="159956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6pPr>
            <a:lvl7pPr marL="189928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7pPr>
            <a:lvl8pPr marL="219964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8pPr>
            <a:lvl9pPr marL="249936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9pPr>
          </a:lstStyle>
          <a:p>
            <a:pPr marL="0" indent="0" algn="just">
              <a:buNone/>
            </a:pPr>
            <a:r>
              <a:rPr lang="en-US" sz="2400" dirty="0"/>
              <a:t>The agent's rational behavior depends on:</a:t>
            </a:r>
            <a:endParaRPr lang="en-US" sz="2400" dirty="0"/>
          </a:p>
          <a:p>
            <a:pPr lvl="1" algn="just"/>
            <a:r>
              <a:rPr lang="en-US" sz="2200" dirty="0"/>
              <a:t>the </a:t>
            </a:r>
            <a:r>
              <a:rPr lang="en-US" sz="2200" b="1" dirty="0"/>
              <a:t>performance measure </a:t>
            </a:r>
            <a:r>
              <a:rPr lang="en-US" sz="2200" dirty="0"/>
              <a:t>that </a:t>
            </a:r>
            <a:r>
              <a:rPr lang="en-US" sz="2200" b="1" dirty="0"/>
              <a:t>defines succes</a:t>
            </a:r>
            <a:r>
              <a:rPr lang="en-US" sz="2200" dirty="0"/>
              <a:t>s</a:t>
            </a:r>
            <a:endParaRPr lang="en-US" sz="2200" dirty="0"/>
          </a:p>
          <a:p>
            <a:pPr lvl="1" algn="just"/>
            <a:r>
              <a:rPr lang="en-US" sz="2200" dirty="0"/>
              <a:t>the agent's </a:t>
            </a:r>
            <a:r>
              <a:rPr lang="en-US" sz="2200" b="1" dirty="0"/>
              <a:t>knowledge</a:t>
            </a:r>
            <a:r>
              <a:rPr lang="en-US" sz="2200" dirty="0"/>
              <a:t> of the </a:t>
            </a:r>
            <a:r>
              <a:rPr lang="en-US" sz="2200" b="1" dirty="0"/>
              <a:t>environment</a:t>
            </a:r>
            <a:endParaRPr lang="en-US" sz="2200" b="1" dirty="0"/>
          </a:p>
          <a:p>
            <a:pPr lvl="1" algn="just"/>
            <a:r>
              <a:rPr lang="en-US" sz="2200" dirty="0"/>
              <a:t>the </a:t>
            </a:r>
            <a:r>
              <a:rPr lang="en-US" sz="2200" b="1" dirty="0"/>
              <a:t>action</a:t>
            </a:r>
            <a:r>
              <a:rPr lang="en-US" sz="2200" dirty="0"/>
              <a:t> that it is capable of </a:t>
            </a:r>
            <a:r>
              <a:rPr lang="en-US" sz="2200" b="1" dirty="0"/>
              <a:t>performing</a:t>
            </a:r>
            <a:endParaRPr lang="en-US" sz="2200" b="1" dirty="0"/>
          </a:p>
          <a:p>
            <a:pPr lvl="1" algn="just"/>
            <a:r>
              <a:rPr lang="en-US" sz="2200" dirty="0"/>
              <a:t>the </a:t>
            </a:r>
            <a:r>
              <a:rPr lang="en-US" sz="2200" b="1" dirty="0"/>
              <a:t>current sequence </a:t>
            </a:r>
            <a:r>
              <a:rPr lang="en-US" sz="2200" dirty="0"/>
              <a:t>of </a:t>
            </a:r>
            <a:r>
              <a:rPr lang="en-US" sz="2200" b="1" dirty="0"/>
              <a:t>perceptions</a:t>
            </a:r>
            <a:r>
              <a:rPr lang="en-US" sz="2200" dirty="0"/>
              <a:t>.</a:t>
            </a:r>
            <a:endParaRPr lang="en-US" sz="2200" dirty="0"/>
          </a:p>
          <a:p>
            <a:pPr marL="0" indent="0" algn="just">
              <a:buNone/>
            </a:pPr>
            <a:r>
              <a:rPr lang="en-US" sz="2400" dirty="0"/>
              <a:t>For each possible percept sequence, a </a:t>
            </a:r>
            <a:r>
              <a:rPr lang="en-US" sz="2400" b="1" dirty="0"/>
              <a:t>rational agent</a:t>
            </a:r>
            <a:r>
              <a:rPr lang="en-US" sz="2400" dirty="0"/>
              <a:t> should select an action that is expected to maximize its </a:t>
            </a:r>
            <a:r>
              <a:rPr lang="en-US" sz="2400" b="1" dirty="0"/>
              <a:t>performance measure</a:t>
            </a:r>
            <a:r>
              <a:rPr lang="en-US" sz="2400" dirty="0"/>
              <a:t>, given the evidence provided by the percept sequence and whatever built-in knowledge the agent has.</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449004"/>
            <a:ext cx="7808976" cy="1464201"/>
          </a:xfrm>
        </p:spPr>
        <p:txBody>
          <a:bodyPr>
            <a:noAutofit/>
          </a:bodyPr>
          <a:lstStyle/>
          <a:p>
            <a:br>
              <a:rPr lang="en-US" sz="3200" dirty="0">
                <a:latin typeface="_PDMS_IslamicFont" pitchFamily="2" charset="-78"/>
                <a:cs typeface="_PDMS_IslamicFont" pitchFamily="2" charset="-78"/>
              </a:rPr>
            </a:br>
            <a:r>
              <a:rPr lang="en-US" sz="2800" b="1" dirty="0">
                <a:latin typeface="_PDMS_IslamicFont" pitchFamily="2" charset="-78"/>
                <a:cs typeface="_PDMS_IslamicFont" pitchFamily="2" charset="-78"/>
              </a:rPr>
              <a:t>SPECIFYING THE TASK ENVIRONMENT:</a:t>
            </a:r>
            <a:br>
              <a:rPr lang="en-US" sz="2800" b="1" dirty="0">
                <a:latin typeface="_PDMS_IslamicFont" pitchFamily="2" charset="-78"/>
                <a:cs typeface="_PDMS_IslamicFont" pitchFamily="2" charset="-78"/>
              </a:rPr>
            </a:br>
            <a:r>
              <a:rPr lang="en-US" sz="2800" b="1" dirty="0">
                <a:latin typeface="_PDMS_IslamicFont" pitchFamily="2" charset="-78"/>
                <a:cs typeface="_PDMS_IslamicFont" pitchFamily="2" charset="-78"/>
              </a:rPr>
              <a:t>PEAS DESCRIPTION </a:t>
            </a:r>
            <a:endParaRPr lang="en-US" sz="3200" dirty="0"/>
          </a:p>
        </p:txBody>
      </p:sp>
      <p:pic>
        <p:nvPicPr>
          <p:cNvPr id="40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6982" y="2221922"/>
            <a:ext cx="9047018" cy="39849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PEAS: Examples</a:t>
            </a:r>
            <a:endParaRPr lang="en-US" dirty="0"/>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7377" y="1960850"/>
            <a:ext cx="8625677" cy="477245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660021"/>
            <a:ext cx="7808976" cy="1088136"/>
          </a:xfrm>
        </p:spPr>
        <p:txBody>
          <a:bodyPr>
            <a:noAutofit/>
          </a:bodyPr>
          <a:lstStyle/>
          <a:p>
            <a:r>
              <a:rPr lang="en-US" sz="4000" b="1" dirty="0">
                <a:cs typeface="_PDMS_IslamicFont" pitchFamily="2" charset="-78"/>
              </a:rPr>
              <a:t>PROPERTIES OF  </a:t>
            </a:r>
            <a:br>
              <a:rPr lang="en-US" sz="4000" b="1" dirty="0">
                <a:cs typeface="_PDMS_IslamicFont" pitchFamily="2" charset="-78"/>
              </a:rPr>
            </a:br>
            <a:r>
              <a:rPr lang="en-US" sz="4000" b="1" dirty="0">
                <a:cs typeface="_PDMS_IslamicFont" pitchFamily="2" charset="-78"/>
              </a:rPr>
              <a:t>TASK ENVIRONMENT </a:t>
            </a:r>
            <a:endParaRPr lang="en-US" sz="3600" dirty="0"/>
          </a:p>
        </p:txBody>
      </p:sp>
      <p:sp>
        <p:nvSpPr>
          <p:cNvPr id="3" name="TextBox 2"/>
          <p:cNvSpPr txBox="1"/>
          <p:nvPr/>
        </p:nvSpPr>
        <p:spPr>
          <a:xfrm>
            <a:off x="277091" y="2216727"/>
            <a:ext cx="8575963" cy="4093428"/>
          </a:xfrm>
          <a:prstGeom prst="rect">
            <a:avLst/>
          </a:prstGeom>
          <a:noFill/>
        </p:spPr>
        <p:txBody>
          <a:bodyPr wrap="square" rtlCol="0">
            <a:spAutoFit/>
          </a:bodyPr>
          <a:lstStyle/>
          <a:p>
            <a:pPr algn="just"/>
            <a:r>
              <a:rPr lang="en-US" sz="2000" b="1" dirty="0"/>
              <a:t>Fully observable </a:t>
            </a:r>
            <a:r>
              <a:rPr lang="en-US" sz="2000" dirty="0"/>
              <a:t>vs. </a:t>
            </a:r>
            <a:r>
              <a:rPr lang="en-US" sz="2000" b="1" dirty="0"/>
              <a:t>partially observable</a:t>
            </a:r>
            <a:r>
              <a:rPr lang="en-US" sz="2000" dirty="0"/>
              <a:t>: If an agent’s sensors give it access to the complete state of the environment at each point in time, then we say that the task environment is fully observable. A task environment is effectively fully observable if the sensors detect all aspects that are </a:t>
            </a:r>
            <a:r>
              <a:rPr lang="en-US" sz="2000" i="1" dirty="0"/>
              <a:t>relevant </a:t>
            </a:r>
            <a:r>
              <a:rPr lang="en-US" sz="2000" dirty="0"/>
              <a:t>to the choice of action; relevance. Fully observable environments are convenient because the agent need not maintain any internal state to keep track of the world. </a:t>
            </a:r>
            <a:endParaRPr lang="en-US" sz="2000" dirty="0"/>
          </a:p>
          <a:p>
            <a:pPr algn="just"/>
            <a:endParaRPr lang="en-US" sz="2000" dirty="0"/>
          </a:p>
          <a:p>
            <a:pPr algn="just"/>
            <a:r>
              <a:rPr lang="en-US" sz="2000" dirty="0"/>
              <a:t>An environment might be partially observable because of noisy and inaccurate sensors or because parts of the state are simply missing from the sensor data—for example, a vacuum agent with only a local dirt sensor cannot tell whether there is dirt in other squares, and an automated taxi cannot see what other drivers are thinking. If the agent has no sensors at all then the environment is </a:t>
            </a:r>
            <a:r>
              <a:rPr lang="en-US" sz="2000" b="1" dirty="0"/>
              <a:t>unobservable</a:t>
            </a:r>
            <a:r>
              <a:rPr lang="en-US" sz="2000" dirty="0"/>
              <a:t>.</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660021"/>
            <a:ext cx="7808976" cy="1088136"/>
          </a:xfrm>
        </p:spPr>
        <p:txBody>
          <a:bodyPr>
            <a:noAutofit/>
          </a:bodyPr>
          <a:lstStyle/>
          <a:p>
            <a:r>
              <a:rPr lang="en-US" sz="4000" b="1" dirty="0">
                <a:cs typeface="_PDMS_IslamicFont" pitchFamily="2" charset="-78"/>
              </a:rPr>
              <a:t>PROPERTIES OF  </a:t>
            </a:r>
            <a:br>
              <a:rPr lang="en-US" sz="4000" b="1" dirty="0">
                <a:cs typeface="_PDMS_IslamicFont" pitchFamily="2" charset="-78"/>
              </a:rPr>
            </a:br>
            <a:r>
              <a:rPr lang="en-US" sz="4000" b="1" dirty="0">
                <a:cs typeface="_PDMS_IslamicFont" pitchFamily="2" charset="-78"/>
              </a:rPr>
              <a:t>TASK ENVIRONMENT </a:t>
            </a:r>
            <a:endParaRPr lang="en-US" sz="3600" dirty="0"/>
          </a:p>
        </p:txBody>
      </p:sp>
      <p:sp>
        <p:nvSpPr>
          <p:cNvPr id="3" name="TextBox 2"/>
          <p:cNvSpPr txBox="1"/>
          <p:nvPr/>
        </p:nvSpPr>
        <p:spPr>
          <a:xfrm>
            <a:off x="277090" y="2217386"/>
            <a:ext cx="8575963" cy="1938992"/>
          </a:xfrm>
          <a:prstGeom prst="rect">
            <a:avLst/>
          </a:prstGeom>
          <a:noFill/>
        </p:spPr>
        <p:txBody>
          <a:bodyPr wrap="square" rtlCol="0">
            <a:spAutoFit/>
          </a:bodyPr>
          <a:lstStyle/>
          <a:p>
            <a:pPr algn="just"/>
            <a:r>
              <a:rPr lang="en-US" sz="2000" dirty="0"/>
              <a:t>We say an environment is </a:t>
            </a:r>
            <a:r>
              <a:rPr lang="en-US" sz="2000" b="1" dirty="0"/>
              <a:t>uncertain </a:t>
            </a:r>
            <a:r>
              <a:rPr lang="en-US" sz="2000" dirty="0"/>
              <a:t>if it is not fully observable or not deterministic. </a:t>
            </a:r>
            <a:endParaRPr lang="en-US" sz="2000" dirty="0"/>
          </a:p>
          <a:p>
            <a:pPr algn="just"/>
            <a:r>
              <a:rPr lang="en-US" sz="2000" dirty="0"/>
              <a:t>In our use of the word “stochastic” generally implies that uncertainty about outcomes is quantified in terms of probabilities; a </a:t>
            </a:r>
            <a:r>
              <a:rPr lang="en-US" sz="2000" b="1" dirty="0"/>
              <a:t>nondeterministic </a:t>
            </a:r>
            <a:r>
              <a:rPr lang="en-US" sz="2000" dirty="0"/>
              <a:t>environment is one in which actions are characterized by their </a:t>
            </a:r>
            <a:r>
              <a:rPr lang="en-US" sz="2000" i="1" dirty="0"/>
              <a:t>possible </a:t>
            </a:r>
            <a:r>
              <a:rPr lang="en-US" sz="2000" dirty="0"/>
              <a:t>outcomes, but no probabilities are attached to them. </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660021"/>
            <a:ext cx="7808976" cy="1088136"/>
          </a:xfrm>
        </p:spPr>
        <p:txBody>
          <a:bodyPr>
            <a:noAutofit/>
          </a:bodyPr>
          <a:lstStyle/>
          <a:p>
            <a:r>
              <a:rPr lang="en-US" sz="4000" b="1" dirty="0">
                <a:cs typeface="_PDMS_IslamicFont" pitchFamily="2" charset="-78"/>
              </a:rPr>
              <a:t>PROPERTIES OF  </a:t>
            </a:r>
            <a:br>
              <a:rPr lang="en-US" sz="4000" b="1" dirty="0">
                <a:cs typeface="_PDMS_IslamicFont" pitchFamily="2" charset="-78"/>
              </a:rPr>
            </a:br>
            <a:r>
              <a:rPr lang="en-US" sz="4000" b="1" dirty="0">
                <a:cs typeface="_PDMS_IslamicFont" pitchFamily="2" charset="-78"/>
              </a:rPr>
              <a:t>TASK ENVIRONMENT </a:t>
            </a:r>
            <a:endParaRPr lang="en-US" sz="3600" dirty="0"/>
          </a:p>
        </p:txBody>
      </p:sp>
      <p:sp>
        <p:nvSpPr>
          <p:cNvPr id="3" name="TextBox 2"/>
          <p:cNvSpPr txBox="1"/>
          <p:nvPr/>
        </p:nvSpPr>
        <p:spPr>
          <a:xfrm>
            <a:off x="277090" y="2217386"/>
            <a:ext cx="8575963" cy="1323439"/>
          </a:xfrm>
          <a:prstGeom prst="rect">
            <a:avLst/>
          </a:prstGeom>
          <a:noFill/>
        </p:spPr>
        <p:txBody>
          <a:bodyPr wrap="square" rtlCol="0">
            <a:spAutoFit/>
          </a:bodyPr>
          <a:lstStyle/>
          <a:p>
            <a:pPr algn="just"/>
            <a:r>
              <a:rPr lang="en-US" sz="2000" b="1" dirty="0"/>
              <a:t>Single agent </a:t>
            </a:r>
            <a:r>
              <a:rPr lang="en-US" sz="2000" dirty="0"/>
              <a:t>vs. </a:t>
            </a:r>
            <a:r>
              <a:rPr lang="en-US" sz="2000" b="1" dirty="0"/>
              <a:t>multi-agent</a:t>
            </a:r>
            <a:r>
              <a:rPr lang="en-US" sz="2000" dirty="0"/>
              <a:t>: The distinction between single-agent and multi-agent environments may seem simple enough. For example, an agent solving a crossword puzzle by itself is clearly in a single-agent environment, whereas an agent playing chess is in a two-agent environment.</a:t>
            </a:r>
            <a:endParaRPr lang="en-US" sz="2000" dirty="0"/>
          </a:p>
        </p:txBody>
      </p:sp>
      <p:sp>
        <p:nvSpPr>
          <p:cNvPr id="4" name="TextBox 3"/>
          <p:cNvSpPr txBox="1"/>
          <p:nvPr/>
        </p:nvSpPr>
        <p:spPr>
          <a:xfrm>
            <a:off x="338209" y="3540825"/>
            <a:ext cx="8575963" cy="2246769"/>
          </a:xfrm>
          <a:prstGeom prst="rect">
            <a:avLst/>
          </a:prstGeom>
          <a:noFill/>
        </p:spPr>
        <p:txBody>
          <a:bodyPr wrap="square" rtlCol="0">
            <a:spAutoFit/>
          </a:bodyPr>
          <a:lstStyle/>
          <a:p>
            <a:pPr algn="just"/>
            <a:r>
              <a:rPr lang="en-US" sz="2000" b="1" dirty="0"/>
              <a:t>Deterministic </a:t>
            </a:r>
            <a:r>
              <a:rPr lang="en-US" sz="2000" dirty="0"/>
              <a:t>vs. </a:t>
            </a:r>
            <a:r>
              <a:rPr lang="en-US" sz="2000" b="1" dirty="0"/>
              <a:t>stochastic</a:t>
            </a:r>
            <a:r>
              <a:rPr lang="en-US" sz="2000" dirty="0"/>
              <a:t>. If the next state of the environment is completely determined by the current state and the action executed by the agent, then we say the environment is deterministic; otherwise, it is stochastic. </a:t>
            </a:r>
            <a:endParaRPr lang="en-US" sz="2000" dirty="0"/>
          </a:p>
          <a:p>
            <a:pPr algn="just"/>
            <a:endParaRPr lang="en-US" sz="2000" dirty="0"/>
          </a:p>
          <a:p>
            <a:pPr algn="just"/>
            <a:r>
              <a:rPr lang="en-US" sz="2000" dirty="0"/>
              <a:t>In principle, an agent need not worry about uncertainty in a fully observable, deterministic environment. If the environment is partially observable, however, then it could </a:t>
            </a:r>
            <a:r>
              <a:rPr lang="en-US" sz="2000" i="1" dirty="0"/>
              <a:t>appear </a:t>
            </a:r>
            <a:r>
              <a:rPr lang="en-US" sz="2000" dirty="0"/>
              <a:t>to be stochastic.</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660021"/>
            <a:ext cx="7808976" cy="1088136"/>
          </a:xfrm>
        </p:spPr>
        <p:txBody>
          <a:bodyPr>
            <a:noAutofit/>
          </a:bodyPr>
          <a:lstStyle/>
          <a:p>
            <a:r>
              <a:rPr lang="en-US" sz="4000" b="1" dirty="0">
                <a:cs typeface="_PDMS_IslamicFont" pitchFamily="2" charset="-78"/>
              </a:rPr>
              <a:t>PROPERTIES OF  </a:t>
            </a:r>
            <a:br>
              <a:rPr lang="en-US" sz="4000" b="1" dirty="0">
                <a:cs typeface="_PDMS_IslamicFont" pitchFamily="2" charset="-78"/>
              </a:rPr>
            </a:br>
            <a:r>
              <a:rPr lang="en-US" sz="4000" b="1" dirty="0">
                <a:cs typeface="_PDMS_IslamicFont" pitchFamily="2" charset="-78"/>
              </a:rPr>
              <a:t>TASK ENVIRONMENT </a:t>
            </a:r>
            <a:endParaRPr lang="en-US" sz="3600" dirty="0"/>
          </a:p>
        </p:txBody>
      </p:sp>
      <p:sp>
        <p:nvSpPr>
          <p:cNvPr id="3" name="TextBox 2"/>
          <p:cNvSpPr txBox="1"/>
          <p:nvPr/>
        </p:nvSpPr>
        <p:spPr>
          <a:xfrm>
            <a:off x="277089" y="2064986"/>
            <a:ext cx="8575963" cy="4401205"/>
          </a:xfrm>
          <a:prstGeom prst="rect">
            <a:avLst/>
          </a:prstGeom>
          <a:noFill/>
        </p:spPr>
        <p:txBody>
          <a:bodyPr wrap="square" rtlCol="0">
            <a:spAutoFit/>
          </a:bodyPr>
          <a:lstStyle/>
          <a:p>
            <a:pPr algn="just"/>
            <a:r>
              <a:rPr lang="en-US" sz="2000" b="1" dirty="0"/>
              <a:t>Episodic </a:t>
            </a:r>
            <a:r>
              <a:rPr lang="en-US" sz="2000" dirty="0"/>
              <a:t>vs. </a:t>
            </a:r>
            <a:r>
              <a:rPr lang="en-US" sz="2000" b="1" dirty="0"/>
              <a:t>sequential</a:t>
            </a:r>
            <a:r>
              <a:rPr lang="en-US" sz="2000" dirty="0"/>
              <a:t>: In an episodic task environment, the agent’s experience is divided into atomic episodes. In each episode the agent receives a percept and then performs a single action. Crucially, the next episode does not depend on the actions taken in previous episodes. Many classification tasks are episodic. </a:t>
            </a:r>
            <a:endParaRPr lang="en-US" sz="2000" dirty="0"/>
          </a:p>
          <a:p>
            <a:pPr algn="just"/>
            <a:endParaRPr lang="en-US" sz="2000" dirty="0"/>
          </a:p>
          <a:p>
            <a:pPr algn="just"/>
            <a:r>
              <a:rPr lang="en-US" sz="2000" dirty="0"/>
              <a:t>For example, </a:t>
            </a:r>
            <a:r>
              <a:rPr lang="en-US" sz="2000" b="1" dirty="0"/>
              <a:t>an agent </a:t>
            </a:r>
            <a:r>
              <a:rPr lang="en-US" sz="2000" dirty="0"/>
              <a:t>that has to spot defective parts on an assembly line bases each decision on the current part, regardless of previous decisions; moreover, the current decision doesn’t affect whether the next part is defective. In </a:t>
            </a:r>
            <a:r>
              <a:rPr lang="en-US" sz="2000" b="1" dirty="0"/>
              <a:t>sequential environments</a:t>
            </a:r>
            <a:r>
              <a:rPr lang="en-US" sz="2000" dirty="0"/>
              <a:t>, on the other hand, the current decision could affect all future decisions. Chess and taxi driving are sequential: in both cases, short-term actions can have long-term consequences. </a:t>
            </a:r>
            <a:endParaRPr lang="en-US" sz="2000" dirty="0"/>
          </a:p>
          <a:p>
            <a:pPr algn="just"/>
            <a:endParaRPr lang="en-US" sz="2000" dirty="0"/>
          </a:p>
          <a:p>
            <a:pPr algn="just"/>
            <a:r>
              <a:rPr lang="en-US" sz="2000" dirty="0"/>
              <a:t>Episodic environments are much simpler than sequential environments because the agent does not need to think ahead.</a:t>
            </a:r>
            <a:endParaRPr 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660021"/>
            <a:ext cx="7808976" cy="1088136"/>
          </a:xfrm>
        </p:spPr>
        <p:txBody>
          <a:bodyPr>
            <a:noAutofit/>
          </a:bodyPr>
          <a:lstStyle/>
          <a:p>
            <a:r>
              <a:rPr lang="en-US" sz="4000" b="1" dirty="0">
                <a:cs typeface="_PDMS_IslamicFont" pitchFamily="2" charset="-78"/>
              </a:rPr>
              <a:t>PROPERTIES OF  </a:t>
            </a:r>
            <a:br>
              <a:rPr lang="en-US" sz="4000" b="1" dirty="0">
                <a:cs typeface="_PDMS_IslamicFont" pitchFamily="2" charset="-78"/>
              </a:rPr>
            </a:br>
            <a:r>
              <a:rPr lang="en-US" sz="4000" b="1" dirty="0">
                <a:cs typeface="_PDMS_IslamicFont" pitchFamily="2" charset="-78"/>
              </a:rPr>
              <a:t>TASK ENVIRONMENT </a:t>
            </a:r>
            <a:endParaRPr lang="en-US" sz="3600" dirty="0"/>
          </a:p>
        </p:txBody>
      </p:sp>
      <p:sp>
        <p:nvSpPr>
          <p:cNvPr id="3" name="TextBox 2"/>
          <p:cNvSpPr txBox="1"/>
          <p:nvPr/>
        </p:nvSpPr>
        <p:spPr>
          <a:xfrm>
            <a:off x="277089" y="2064986"/>
            <a:ext cx="8575963" cy="3170099"/>
          </a:xfrm>
          <a:prstGeom prst="rect">
            <a:avLst/>
          </a:prstGeom>
          <a:noFill/>
        </p:spPr>
        <p:txBody>
          <a:bodyPr wrap="square" rtlCol="0">
            <a:spAutoFit/>
          </a:bodyPr>
          <a:lstStyle/>
          <a:p>
            <a:pPr algn="just"/>
            <a:r>
              <a:rPr lang="en-US" sz="2000" b="1" dirty="0"/>
              <a:t>Static </a:t>
            </a:r>
            <a:r>
              <a:rPr lang="en-US" sz="2000" dirty="0"/>
              <a:t>vs. </a:t>
            </a:r>
            <a:r>
              <a:rPr lang="en-US" sz="2000" b="1" dirty="0"/>
              <a:t>dynamic</a:t>
            </a:r>
            <a:r>
              <a:rPr lang="en-US" sz="2000" dirty="0"/>
              <a:t>: If the environment can change while an agent is deliberating, then we say the environment is dynamic for that agent; otherwise, it is static. </a:t>
            </a:r>
            <a:endParaRPr lang="en-US" sz="2000" dirty="0"/>
          </a:p>
          <a:p>
            <a:pPr algn="just"/>
            <a:endParaRPr lang="en-US" sz="2000" dirty="0"/>
          </a:p>
          <a:p>
            <a:pPr algn="just"/>
            <a:r>
              <a:rPr lang="en-US" sz="2000" b="1" dirty="0"/>
              <a:t>Static environments</a:t>
            </a:r>
            <a:r>
              <a:rPr lang="en-US" sz="2000" dirty="0"/>
              <a:t> are easy to deal with because the agent need not keep looking at the world while it is deciding on an action, nor need it worry about the passage of time. </a:t>
            </a:r>
            <a:endParaRPr lang="en-US" sz="2000" dirty="0"/>
          </a:p>
          <a:p>
            <a:pPr algn="just"/>
            <a:endParaRPr lang="en-US" sz="2000" dirty="0"/>
          </a:p>
          <a:p>
            <a:pPr algn="just"/>
            <a:r>
              <a:rPr lang="en-US" sz="2000" b="1" dirty="0"/>
              <a:t>Dynamic environments</a:t>
            </a:r>
            <a:r>
              <a:rPr lang="en-US" sz="2000" dirty="0"/>
              <a:t>, on the other hand, are continuously asking the agent what it wants to do; if it hasn’t decided yet, that counts as deciding to do nothing.</a:t>
            </a:r>
            <a:endParaRPr 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660021"/>
            <a:ext cx="7808976" cy="1088136"/>
          </a:xfrm>
        </p:spPr>
        <p:txBody>
          <a:bodyPr>
            <a:noAutofit/>
          </a:bodyPr>
          <a:lstStyle/>
          <a:p>
            <a:r>
              <a:rPr lang="en-US" sz="4000" b="1" dirty="0">
                <a:cs typeface="_PDMS_IslamicFont" pitchFamily="2" charset="-78"/>
              </a:rPr>
              <a:t>PROPERTIES OF  </a:t>
            </a:r>
            <a:br>
              <a:rPr lang="en-US" sz="4000" b="1" dirty="0">
                <a:cs typeface="_PDMS_IslamicFont" pitchFamily="2" charset="-78"/>
              </a:rPr>
            </a:br>
            <a:r>
              <a:rPr lang="en-US" sz="4000" b="1" dirty="0">
                <a:cs typeface="_PDMS_IslamicFont" pitchFamily="2" charset="-78"/>
              </a:rPr>
              <a:t>TASK ENVIRONMENT </a:t>
            </a:r>
            <a:endParaRPr lang="en-US" sz="3600" dirty="0"/>
          </a:p>
        </p:txBody>
      </p:sp>
      <p:sp>
        <p:nvSpPr>
          <p:cNvPr id="3" name="TextBox 2"/>
          <p:cNvSpPr txBox="1"/>
          <p:nvPr/>
        </p:nvSpPr>
        <p:spPr>
          <a:xfrm>
            <a:off x="277089" y="2064986"/>
            <a:ext cx="8575963" cy="4093428"/>
          </a:xfrm>
          <a:prstGeom prst="rect">
            <a:avLst/>
          </a:prstGeom>
          <a:noFill/>
        </p:spPr>
        <p:txBody>
          <a:bodyPr wrap="square" rtlCol="0">
            <a:spAutoFit/>
          </a:bodyPr>
          <a:lstStyle/>
          <a:p>
            <a:pPr algn="just"/>
            <a:r>
              <a:rPr lang="en-US" sz="2000" b="1" dirty="0"/>
              <a:t>Discrete </a:t>
            </a:r>
            <a:r>
              <a:rPr lang="en-US" sz="2000" dirty="0"/>
              <a:t>vs. </a:t>
            </a:r>
            <a:r>
              <a:rPr lang="en-US" sz="2000" b="1" dirty="0"/>
              <a:t>continuous</a:t>
            </a:r>
            <a:r>
              <a:rPr lang="en-US" sz="2000" dirty="0"/>
              <a:t>: The discrete/continuous distinction applies to the </a:t>
            </a:r>
            <a:r>
              <a:rPr lang="en-US" sz="2000" i="1" dirty="0"/>
              <a:t>state </a:t>
            </a:r>
            <a:r>
              <a:rPr lang="en-US" sz="2000" dirty="0"/>
              <a:t>of the environment, to the way </a:t>
            </a:r>
            <a:r>
              <a:rPr lang="en-US" sz="2000" i="1" dirty="0"/>
              <a:t>time </a:t>
            </a:r>
            <a:r>
              <a:rPr lang="en-US" sz="2000" dirty="0"/>
              <a:t>is handled, and to the </a:t>
            </a:r>
            <a:r>
              <a:rPr lang="en-US" sz="2000" i="1" dirty="0"/>
              <a:t>percepts </a:t>
            </a:r>
            <a:r>
              <a:rPr lang="en-US" sz="2000" dirty="0"/>
              <a:t>and </a:t>
            </a:r>
            <a:r>
              <a:rPr lang="en-US" sz="2000" i="1" dirty="0"/>
              <a:t>actions </a:t>
            </a:r>
            <a:r>
              <a:rPr lang="en-US" sz="2000" dirty="0"/>
              <a:t>of the agent. </a:t>
            </a:r>
            <a:endParaRPr lang="en-US" sz="2000" dirty="0"/>
          </a:p>
          <a:p>
            <a:pPr algn="just"/>
            <a:endParaRPr lang="en-US" sz="2000" dirty="0"/>
          </a:p>
          <a:p>
            <a:pPr algn="just"/>
            <a:r>
              <a:rPr lang="en-US" sz="2000" dirty="0"/>
              <a:t>For example, the chess environment has a finite number of distinct states. Chess also has a discrete set of percepts and actions. </a:t>
            </a:r>
            <a:endParaRPr lang="en-US" sz="2000" dirty="0"/>
          </a:p>
          <a:p>
            <a:pPr algn="just"/>
            <a:endParaRPr lang="en-US" sz="2000" dirty="0"/>
          </a:p>
          <a:p>
            <a:pPr algn="just"/>
            <a:r>
              <a:rPr lang="en-US" sz="2000" dirty="0"/>
              <a:t>Taxi driving is a continuous-state and continuous-time problem: the speed and location of the taxi and of the other vehicles sweep through a range of continuous values and do so smoothly over time. Taxi-driving actions are also continuous (steering angles, etc.). </a:t>
            </a:r>
            <a:endParaRPr lang="en-US" sz="2000" dirty="0"/>
          </a:p>
          <a:p>
            <a:pPr algn="just"/>
            <a:r>
              <a:rPr lang="en-US" sz="2000" dirty="0"/>
              <a:t>Input from digital cameras is discrete, strictly speaking, but is typically treated as representing continuously varying intensities and locations.</a:t>
            </a:r>
            <a:endParaRPr 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660021"/>
            <a:ext cx="7808976" cy="1088136"/>
          </a:xfrm>
        </p:spPr>
        <p:txBody>
          <a:bodyPr>
            <a:normAutofit fontScale="90000"/>
          </a:bodyPr>
          <a:lstStyle/>
          <a:p>
            <a:r>
              <a:rPr lang="en-US" dirty="0"/>
              <a:t>TASK ENVIRONMENT: EXAMPLES</a:t>
            </a:r>
            <a:endParaRPr lang="en-US" dirty="0"/>
          </a:p>
        </p:txBody>
      </p:sp>
      <p:pic>
        <p:nvPicPr>
          <p:cNvPr id="512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6961" y="2113683"/>
            <a:ext cx="9037039" cy="45780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THE STRUCTURE OF AGENTS</a:t>
            </a:r>
            <a:endParaRPr lang="en-US" dirty="0"/>
          </a:p>
        </p:txBody>
      </p:sp>
      <p:sp>
        <p:nvSpPr>
          <p:cNvPr id="5" name="TextBox 4"/>
          <p:cNvSpPr txBox="1"/>
          <p:nvPr/>
        </p:nvSpPr>
        <p:spPr>
          <a:xfrm>
            <a:off x="193963" y="2258291"/>
            <a:ext cx="8506692" cy="4093428"/>
          </a:xfrm>
          <a:prstGeom prst="rect">
            <a:avLst/>
          </a:prstGeom>
          <a:noFill/>
        </p:spPr>
        <p:txBody>
          <a:bodyPr wrap="square" rtlCol="0">
            <a:spAutoFit/>
          </a:bodyPr>
          <a:lstStyle/>
          <a:p>
            <a:pPr algn="just"/>
            <a:r>
              <a:rPr lang="en-US" sz="2000" dirty="0"/>
              <a:t>The job of AI is to design an </a:t>
            </a:r>
            <a:r>
              <a:rPr lang="en-US" sz="2000" b="1" dirty="0"/>
              <a:t>agent program </a:t>
            </a:r>
            <a:r>
              <a:rPr lang="en-US" sz="2000" dirty="0"/>
              <a:t>that implements the </a:t>
            </a:r>
            <a:r>
              <a:rPr lang="en-US" sz="2000" b="1" dirty="0"/>
              <a:t>agent function</a:t>
            </a:r>
            <a:r>
              <a:rPr lang="en-US" sz="2000" dirty="0"/>
              <a:t>— the mapping from percepts to actions. </a:t>
            </a:r>
            <a:endParaRPr lang="en-US" sz="2000" dirty="0"/>
          </a:p>
          <a:p>
            <a:pPr algn="just"/>
            <a:endParaRPr lang="en-US" sz="2000" dirty="0"/>
          </a:p>
          <a:p>
            <a:pPr algn="just"/>
            <a:r>
              <a:rPr lang="en-US" sz="2000" dirty="0"/>
              <a:t>We assume this program will run on some sort of computing device with physical sensors and actuators—we call this the </a:t>
            </a:r>
            <a:r>
              <a:rPr lang="en-US" sz="2000" b="1" dirty="0"/>
              <a:t>architecture</a:t>
            </a:r>
            <a:r>
              <a:rPr lang="en-US" sz="2000" dirty="0"/>
              <a:t>:</a:t>
            </a:r>
            <a:endParaRPr lang="en-US" sz="2000" dirty="0"/>
          </a:p>
          <a:p>
            <a:pPr algn="just"/>
            <a:endParaRPr lang="en-US" sz="2000" dirty="0"/>
          </a:p>
          <a:p>
            <a:pPr algn="just"/>
            <a:r>
              <a:rPr lang="en-US" sz="2000" i="1" dirty="0"/>
              <a:t>agent </a:t>
            </a:r>
            <a:r>
              <a:rPr lang="en-US" sz="2000" dirty="0"/>
              <a:t>= </a:t>
            </a:r>
            <a:r>
              <a:rPr lang="en-US" sz="2000" i="1" dirty="0"/>
              <a:t>architecture </a:t>
            </a:r>
            <a:r>
              <a:rPr lang="en-US" sz="2000" dirty="0"/>
              <a:t>+ </a:t>
            </a:r>
            <a:r>
              <a:rPr lang="en-US" sz="2000" i="1" dirty="0"/>
              <a:t>program</a:t>
            </a:r>
            <a:endParaRPr lang="en-US" sz="2000" i="1" dirty="0"/>
          </a:p>
          <a:p>
            <a:pPr algn="just"/>
            <a:endParaRPr lang="en-US" sz="2000" i="1" dirty="0"/>
          </a:p>
          <a:p>
            <a:pPr algn="just"/>
            <a:r>
              <a:rPr lang="en-US" sz="2000" dirty="0"/>
              <a:t>Obviously, the program we choose has to be one that is appropriate for the architecture. If the program is going to recommend actions like </a:t>
            </a:r>
            <a:r>
              <a:rPr lang="en-US" sz="2000" b="1" dirty="0"/>
              <a:t>Walk</a:t>
            </a:r>
            <a:r>
              <a:rPr lang="en-US" sz="2000" dirty="0"/>
              <a:t>, the architecture had better have </a:t>
            </a:r>
            <a:r>
              <a:rPr lang="en-US" sz="2000" b="1" dirty="0"/>
              <a:t>legs</a:t>
            </a:r>
            <a:r>
              <a:rPr lang="en-US" sz="2000" dirty="0"/>
              <a:t>. The architecture might be just an ordinary PC, or it might be a robotic car with several onboard computers, cameras, and other sensors.</a:t>
            </a:r>
            <a:endParaRPr lang="en-US"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730359"/>
            <a:ext cx="7808976" cy="1088136"/>
          </a:xfrm>
        </p:spPr>
        <p:txBody>
          <a:bodyPr>
            <a:normAutofit fontScale="90000"/>
          </a:bodyPr>
          <a:lstStyle/>
          <a:p>
            <a:r>
              <a:rPr lang="en-US" dirty="0"/>
              <a:t>AGENT EXAMPLE: </a:t>
            </a:r>
            <a:br>
              <a:rPr lang="en-US" dirty="0"/>
            </a:br>
            <a:r>
              <a:rPr lang="en-US" dirty="0"/>
              <a:t>TABLE DRIVEN AGENT</a:t>
            </a:r>
            <a:endParaRPr lang="en-US" dirty="0"/>
          </a:p>
        </p:txBody>
      </p:sp>
      <p:sp>
        <p:nvSpPr>
          <p:cNvPr id="3" name="Content Placeholder 2"/>
          <p:cNvSpPr txBox="1"/>
          <p:nvPr/>
        </p:nvSpPr>
        <p:spPr>
          <a:xfrm>
            <a:off x="150811" y="2067950"/>
            <a:ext cx="8880647" cy="4790049"/>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anose="05000000000000000000"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anose="05000000000000000000"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anose="05000000000000000000"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9pPr>
          </a:lstStyle>
          <a:p>
            <a:pPr algn="just"/>
            <a:r>
              <a:rPr lang="en-US" sz="2000" b="1" dirty="0">
                <a:solidFill>
                  <a:schemeClr val="tx1"/>
                </a:solidFill>
              </a:rPr>
              <a:t>Table-driven agents</a:t>
            </a:r>
            <a:r>
              <a:rPr lang="en-US" sz="2000" dirty="0">
                <a:solidFill>
                  <a:schemeClr val="tx1"/>
                </a:solidFill>
              </a:rPr>
              <a:t>: It consists in a lookup table of actions to be taken for every possible state of the environment.</a:t>
            </a:r>
            <a:endParaRPr lang="en-US" sz="2000" dirty="0">
              <a:solidFill>
                <a:schemeClr val="tx1"/>
              </a:solidFill>
            </a:endParaRPr>
          </a:p>
          <a:p>
            <a:pPr algn="just"/>
            <a:endParaRPr lang="en-US" sz="2000" dirty="0">
              <a:solidFill>
                <a:schemeClr val="tx1"/>
              </a:solidFill>
            </a:endParaRPr>
          </a:p>
          <a:p>
            <a:pPr algn="just"/>
            <a:r>
              <a:rPr lang="en-US" sz="2000" dirty="0">
                <a:solidFill>
                  <a:schemeClr val="tx1"/>
                </a:solidFill>
              </a:rPr>
              <a:t>If the environment has </a:t>
            </a:r>
            <a:r>
              <a:rPr lang="en-US" sz="2000" b="1" dirty="0">
                <a:solidFill>
                  <a:schemeClr val="tx1"/>
                </a:solidFill>
              </a:rPr>
              <a:t>n</a:t>
            </a:r>
            <a:r>
              <a:rPr lang="en-US" sz="2000" dirty="0">
                <a:solidFill>
                  <a:schemeClr val="tx1"/>
                </a:solidFill>
              </a:rPr>
              <a:t> variables, each with </a:t>
            </a:r>
            <a:r>
              <a:rPr lang="en-US" sz="2000" b="1" dirty="0">
                <a:solidFill>
                  <a:schemeClr val="tx1"/>
                </a:solidFill>
              </a:rPr>
              <a:t>t</a:t>
            </a:r>
            <a:r>
              <a:rPr lang="en-US" sz="2000" dirty="0">
                <a:solidFill>
                  <a:schemeClr val="tx1"/>
                </a:solidFill>
              </a:rPr>
              <a:t> possible states, then the table size is </a:t>
            </a:r>
            <a:r>
              <a:rPr lang="en-US" sz="2000" b="1" dirty="0">
                <a:solidFill>
                  <a:schemeClr val="tx1"/>
                </a:solidFill>
              </a:rPr>
              <a:t>t</a:t>
            </a:r>
            <a:r>
              <a:rPr lang="en-US" sz="2000" b="1" baseline="30000" dirty="0">
                <a:solidFill>
                  <a:schemeClr val="tx1"/>
                </a:solidFill>
              </a:rPr>
              <a:t>n</a:t>
            </a:r>
            <a:r>
              <a:rPr lang="en-US" sz="2000" dirty="0">
                <a:solidFill>
                  <a:schemeClr val="tx1"/>
                </a:solidFill>
              </a:rPr>
              <a:t>.</a:t>
            </a:r>
            <a:endParaRPr lang="en-US" sz="2000" dirty="0">
              <a:solidFill>
                <a:schemeClr val="tx1"/>
              </a:solidFill>
            </a:endParaRPr>
          </a:p>
          <a:p>
            <a:pPr algn="just"/>
            <a:endParaRPr lang="en-US" sz="2000" dirty="0">
              <a:solidFill>
                <a:schemeClr val="tx1"/>
              </a:solidFill>
            </a:endParaRPr>
          </a:p>
          <a:p>
            <a:pPr algn="just"/>
            <a:r>
              <a:rPr lang="en-US" sz="2000" dirty="0">
                <a:solidFill>
                  <a:schemeClr val="tx1"/>
                </a:solidFill>
              </a:rPr>
              <a:t>Only works for a small number of possible states for the environment.</a:t>
            </a:r>
            <a:endParaRPr lang="en-US" sz="2000" dirty="0">
              <a:solidFill>
                <a:schemeClr val="tx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br>
              <a:rPr lang="en-US" sz="4400" dirty="0">
                <a:cs typeface="_PDMS_IslamicFont" pitchFamily="2" charset="-78"/>
              </a:rPr>
            </a:br>
            <a:r>
              <a:rPr lang="en-US" sz="4400" dirty="0">
                <a:cs typeface="_PDMS_IslamicFont" pitchFamily="2" charset="-78"/>
              </a:rPr>
              <a:t>TABLE-DRIVEN-AGENT </a:t>
            </a:r>
            <a:endParaRPr lang="en-US" dirty="0"/>
          </a:p>
        </p:txBody>
      </p:sp>
      <p:pic>
        <p:nvPicPr>
          <p:cNvPr id="614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9367" y="2224088"/>
            <a:ext cx="8925358" cy="3428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726096"/>
            <a:ext cx="7808976" cy="1088136"/>
          </a:xfrm>
        </p:spPr>
        <p:txBody>
          <a:bodyPr>
            <a:normAutofit fontScale="90000"/>
          </a:bodyPr>
          <a:lstStyle/>
          <a:p>
            <a:r>
              <a:rPr lang="en-US" dirty="0"/>
              <a:t>VACUUM CLEANING AGENT:</a:t>
            </a:r>
            <a:br>
              <a:rPr lang="en-US" dirty="0"/>
            </a:br>
            <a:r>
              <a:rPr lang="en-US" dirty="0"/>
              <a:t>Table Driven</a:t>
            </a:r>
            <a:endParaRPr lang="en-US" dirty="0"/>
          </a:p>
        </p:txBody>
      </p:sp>
      <p:pic>
        <p:nvPicPr>
          <p:cNvPr id="3" name="Picture 2"/>
          <p:cNvPicPr>
            <a:picLocks noChangeAspect="1"/>
          </p:cNvPicPr>
          <p:nvPr/>
        </p:nvPicPr>
        <p:blipFill>
          <a:blip r:embed="rId1"/>
          <a:stretch>
            <a:fillRect/>
          </a:stretch>
        </p:blipFill>
        <p:spPr>
          <a:xfrm>
            <a:off x="150812" y="1999018"/>
            <a:ext cx="8894714" cy="4755887"/>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660022"/>
            <a:ext cx="7808976" cy="1088136"/>
          </a:xfrm>
        </p:spPr>
        <p:txBody>
          <a:bodyPr>
            <a:noAutofit/>
          </a:bodyPr>
          <a:lstStyle/>
          <a:p>
            <a:r>
              <a:rPr lang="en-US" sz="4000" dirty="0"/>
              <a:t>LIMITATION OF </a:t>
            </a:r>
            <a:br>
              <a:rPr lang="en-US" sz="4000" dirty="0"/>
            </a:br>
            <a:r>
              <a:rPr lang="en-US" sz="4000" dirty="0"/>
              <a:t>TABLE-DRIVEN AGENT</a:t>
            </a:r>
            <a:endParaRPr lang="en-US" sz="4000" dirty="0"/>
          </a:p>
        </p:txBody>
      </p:sp>
      <p:sp>
        <p:nvSpPr>
          <p:cNvPr id="3" name="Content Placeholder 2"/>
          <p:cNvSpPr txBox="1"/>
          <p:nvPr/>
        </p:nvSpPr>
        <p:spPr>
          <a:xfrm>
            <a:off x="263235" y="2161309"/>
            <a:ext cx="8243455" cy="3771947"/>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0"/>
              </a:spcBef>
              <a:buClr>
                <a:schemeClr val="bg1">
                  <a:lumMod val="65000"/>
                </a:schemeClr>
              </a:buClr>
              <a:buSzPct val="90000"/>
              <a:buFont typeface="Wingdings" panose="05000000000000000000"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anose="05000000000000000000"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anose="05000000000000000000"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9pPr>
          </a:lstStyle>
          <a:p>
            <a:pPr algn="just"/>
            <a:r>
              <a:rPr lang="en-US" sz="2400" dirty="0">
                <a:solidFill>
                  <a:schemeClr val="tx1"/>
                </a:solidFill>
                <a:cs typeface="_PDMS_IslamicFont" pitchFamily="2" charset="-78"/>
              </a:rPr>
              <a:t>No physical agent in this universe will have the space to store the table, </a:t>
            </a:r>
            <a:endParaRPr lang="en-US" sz="2400" dirty="0">
              <a:solidFill>
                <a:schemeClr val="tx1"/>
              </a:solidFill>
              <a:cs typeface="_PDMS_IslamicFont" pitchFamily="2" charset="-78"/>
            </a:endParaRPr>
          </a:p>
          <a:p>
            <a:pPr algn="just"/>
            <a:endParaRPr lang="en-US" sz="2400" dirty="0">
              <a:solidFill>
                <a:schemeClr val="tx1"/>
              </a:solidFill>
              <a:cs typeface="_PDMS_IslamicFont" pitchFamily="2" charset="-78"/>
            </a:endParaRPr>
          </a:p>
          <a:p>
            <a:pPr algn="just"/>
            <a:r>
              <a:rPr lang="en-US" sz="2400" dirty="0">
                <a:solidFill>
                  <a:schemeClr val="tx1"/>
                </a:solidFill>
                <a:cs typeface="_PDMS_IslamicFont" pitchFamily="2" charset="-78"/>
              </a:rPr>
              <a:t>No agent could ever learn all the right table entries from its experience, and </a:t>
            </a:r>
            <a:endParaRPr lang="en-US" sz="2400" dirty="0">
              <a:solidFill>
                <a:schemeClr val="tx1"/>
              </a:solidFill>
              <a:cs typeface="_PDMS_IslamicFont" pitchFamily="2" charset="-78"/>
            </a:endParaRPr>
          </a:p>
          <a:p>
            <a:pPr algn="just"/>
            <a:endParaRPr lang="en-US" sz="2400" dirty="0">
              <a:solidFill>
                <a:schemeClr val="tx1"/>
              </a:solidFill>
              <a:cs typeface="_PDMS_IslamicFont" pitchFamily="2" charset="-78"/>
            </a:endParaRPr>
          </a:p>
          <a:p>
            <a:pPr algn="just"/>
            <a:r>
              <a:rPr lang="en-US" sz="2400" dirty="0">
                <a:solidFill>
                  <a:schemeClr val="tx1"/>
                </a:solidFill>
                <a:cs typeface="_PDMS_IslamicFont" pitchFamily="2" charset="-78"/>
              </a:rPr>
              <a:t>Even if the environment is simple enough to yield a feasible table size,  the designer still has no guidance about how to fill in the table entries </a:t>
            </a:r>
            <a:endParaRPr lang="en-US" sz="2400" dirty="0">
              <a:solidFill>
                <a:schemeClr val="tx1"/>
              </a:solidFill>
              <a:cs typeface="_PDMS_IslamicFont" pitchFamily="2" charset="-78"/>
            </a:endParaRPr>
          </a:p>
          <a:p>
            <a:pPr algn="just"/>
            <a:endParaRPr lang="en-US" sz="2400" dirty="0">
              <a:solidFill>
                <a:schemeClr val="tx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674088"/>
            <a:ext cx="7808976" cy="1253186"/>
          </a:xfrm>
        </p:spPr>
        <p:txBody>
          <a:bodyPr>
            <a:normAutofit fontScale="90000"/>
          </a:bodyPr>
          <a:lstStyle/>
          <a:p>
            <a:r>
              <a:rPr lang="en-US" sz="4000" b="1" dirty="0">
                <a:cs typeface="_PDMS_IslamicFont" pitchFamily="2" charset="-78"/>
              </a:rPr>
              <a:t>BASIC KINDS OF </a:t>
            </a:r>
            <a:br>
              <a:rPr lang="en-US" sz="4000" b="1" dirty="0">
                <a:cs typeface="_PDMS_IslamicFont" pitchFamily="2" charset="-78"/>
              </a:rPr>
            </a:br>
            <a:r>
              <a:rPr lang="en-US" sz="4000" b="1" dirty="0">
                <a:cs typeface="_PDMS_IslamicFont" pitchFamily="2" charset="-78"/>
              </a:rPr>
              <a:t>AGENT PROGRAMS</a:t>
            </a:r>
            <a:endParaRPr lang="en-US" dirty="0"/>
          </a:p>
        </p:txBody>
      </p:sp>
      <p:sp>
        <p:nvSpPr>
          <p:cNvPr id="3" name="Content Placeholder 2"/>
          <p:cNvSpPr txBox="1"/>
          <p:nvPr/>
        </p:nvSpPr>
        <p:spPr>
          <a:xfrm>
            <a:off x="403548" y="2133120"/>
            <a:ext cx="8319111" cy="405079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anose="05000000000000000000"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anose="05000000000000000000"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anose="05000000000000000000"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9pPr>
          </a:lstStyle>
          <a:p>
            <a:pPr marL="514350" indent="-514350">
              <a:buFont typeface="+mj-lt"/>
              <a:buAutoNum type="arabicPeriod"/>
            </a:pPr>
            <a:r>
              <a:rPr lang="en-US" sz="2800" dirty="0">
                <a:solidFill>
                  <a:schemeClr val="tx1"/>
                </a:solidFill>
                <a:cs typeface="_PDMS_IslamicFont" pitchFamily="2" charset="-78"/>
              </a:rPr>
              <a:t>Simple reflex agents</a:t>
            </a:r>
            <a:endParaRPr lang="en-US" sz="2800" dirty="0">
              <a:solidFill>
                <a:schemeClr val="tx1"/>
              </a:solidFill>
              <a:cs typeface="_PDMS_IslamicFont" pitchFamily="2" charset="-78"/>
            </a:endParaRPr>
          </a:p>
          <a:p>
            <a:pPr marL="514350" indent="-514350">
              <a:buFont typeface="+mj-lt"/>
              <a:buAutoNum type="arabicPeriod"/>
            </a:pPr>
            <a:endParaRPr lang="en-US" sz="2800" dirty="0">
              <a:solidFill>
                <a:schemeClr val="tx1"/>
              </a:solidFill>
              <a:cs typeface="_PDMS_IslamicFont" pitchFamily="2" charset="-78"/>
            </a:endParaRPr>
          </a:p>
          <a:p>
            <a:pPr marL="514350" indent="-514350">
              <a:buFont typeface="+mj-lt"/>
              <a:buAutoNum type="arabicPeriod"/>
            </a:pPr>
            <a:r>
              <a:rPr lang="en-US" sz="2800" dirty="0">
                <a:solidFill>
                  <a:schemeClr val="tx1"/>
                </a:solidFill>
                <a:cs typeface="_PDMS_IslamicFont" pitchFamily="2" charset="-78"/>
              </a:rPr>
              <a:t>Model-based reflex agents</a:t>
            </a:r>
            <a:endParaRPr lang="en-US" sz="2800" dirty="0">
              <a:solidFill>
                <a:schemeClr val="tx1"/>
              </a:solidFill>
              <a:cs typeface="_PDMS_IslamicFont" pitchFamily="2" charset="-78"/>
            </a:endParaRPr>
          </a:p>
          <a:p>
            <a:pPr marL="514350" indent="-514350">
              <a:buFont typeface="+mj-lt"/>
              <a:buAutoNum type="arabicPeriod"/>
            </a:pPr>
            <a:endParaRPr lang="en-US" sz="2800" dirty="0">
              <a:solidFill>
                <a:schemeClr val="tx1"/>
              </a:solidFill>
              <a:cs typeface="_PDMS_IslamicFont" pitchFamily="2" charset="-78"/>
            </a:endParaRPr>
          </a:p>
          <a:p>
            <a:pPr marL="514350" indent="-514350">
              <a:buFont typeface="+mj-lt"/>
              <a:buAutoNum type="arabicPeriod"/>
            </a:pPr>
            <a:r>
              <a:rPr lang="en-US" sz="2800" dirty="0">
                <a:solidFill>
                  <a:schemeClr val="tx1"/>
                </a:solidFill>
                <a:cs typeface="_PDMS_IslamicFont" pitchFamily="2" charset="-78"/>
              </a:rPr>
              <a:t>Goal-based agents</a:t>
            </a:r>
            <a:endParaRPr lang="en-US" sz="2800" dirty="0">
              <a:solidFill>
                <a:schemeClr val="tx1"/>
              </a:solidFill>
              <a:cs typeface="_PDMS_IslamicFont" pitchFamily="2" charset="-78"/>
            </a:endParaRPr>
          </a:p>
          <a:p>
            <a:pPr marL="514350" indent="-514350">
              <a:buFont typeface="+mj-lt"/>
              <a:buAutoNum type="arabicPeriod"/>
            </a:pPr>
            <a:endParaRPr lang="en-US" sz="2800" dirty="0">
              <a:solidFill>
                <a:schemeClr val="tx1"/>
              </a:solidFill>
              <a:cs typeface="_PDMS_IslamicFont" pitchFamily="2" charset="-78"/>
            </a:endParaRPr>
          </a:p>
          <a:p>
            <a:pPr marL="514350" indent="-514350">
              <a:buFont typeface="+mj-lt"/>
              <a:buAutoNum type="arabicPeriod"/>
            </a:pPr>
            <a:r>
              <a:rPr lang="en-US" sz="2800" dirty="0">
                <a:solidFill>
                  <a:schemeClr val="tx1"/>
                </a:solidFill>
                <a:cs typeface="_PDMS_IslamicFont" pitchFamily="2" charset="-78"/>
              </a:rPr>
              <a:t>Utility-based agents. </a:t>
            </a:r>
            <a:endParaRPr lang="en-US" sz="2800" dirty="0">
              <a:solidFill>
                <a:schemeClr val="tx1"/>
              </a:solidFill>
              <a:cs typeface="_PDMS_IslamicFont" pitchFamily="2" charset="-78"/>
            </a:endParaRPr>
          </a:p>
          <a:p>
            <a:pPr marL="514350" indent="-514350">
              <a:buFont typeface="+mj-lt"/>
              <a:buAutoNum type="arabicPeriod"/>
            </a:pPr>
            <a:endParaRPr lang="en-US" sz="2800" dirty="0">
              <a:solidFill>
                <a:schemeClr val="tx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br>
              <a:rPr lang="en-US" sz="4400" dirty="0"/>
            </a:br>
            <a:r>
              <a:rPr lang="en-US" sz="4400" b="1" dirty="0"/>
              <a:t>SIMPLE REFLEX AGENTS </a:t>
            </a:r>
            <a:endParaRPr lang="en-US" dirty="0"/>
          </a:p>
        </p:txBody>
      </p:sp>
      <p:sp>
        <p:nvSpPr>
          <p:cNvPr id="3" name="Rectangle 2"/>
          <p:cNvSpPr/>
          <p:nvPr/>
        </p:nvSpPr>
        <p:spPr>
          <a:xfrm>
            <a:off x="100403" y="1672679"/>
            <a:ext cx="9043597" cy="1107996"/>
          </a:xfrm>
          <a:prstGeom prst="rect">
            <a:avLst/>
          </a:prstGeom>
        </p:spPr>
        <p:txBody>
          <a:bodyPr wrap="square">
            <a:spAutoFit/>
          </a:bodyPr>
          <a:lstStyle/>
          <a:p>
            <a:endParaRPr lang="en-US" sz="2200" dirty="0"/>
          </a:p>
          <a:p>
            <a:r>
              <a:rPr lang="en-US" sz="2200" dirty="0"/>
              <a:t>select actions on the basis of the </a:t>
            </a:r>
            <a:r>
              <a:rPr lang="en-US" sz="2200" i="1" dirty="0"/>
              <a:t>current percept, ignoring the rest of the percept history. </a:t>
            </a:r>
            <a:endParaRPr lang="en-US" sz="2200" dirty="0"/>
          </a:p>
        </p:txBody>
      </p:sp>
      <p:sp>
        <p:nvSpPr>
          <p:cNvPr id="4" name="Rectangle 3"/>
          <p:cNvSpPr/>
          <p:nvPr/>
        </p:nvSpPr>
        <p:spPr>
          <a:xfrm>
            <a:off x="2206294" y="2272843"/>
            <a:ext cx="8943194" cy="1015663"/>
          </a:xfrm>
          <a:prstGeom prst="rect">
            <a:avLst/>
          </a:prstGeom>
        </p:spPr>
        <p:txBody>
          <a:bodyPr wrap="square">
            <a:spAutoFit/>
          </a:bodyPr>
          <a:lstStyle/>
          <a:p>
            <a:endParaRPr lang="en-US" sz="2000" dirty="0"/>
          </a:p>
          <a:p>
            <a:r>
              <a:rPr lang="en-US" sz="2000" dirty="0"/>
              <a:t>a </a:t>
            </a:r>
            <a:r>
              <a:rPr lang="en-US" sz="2000" b="1" i="1" dirty="0"/>
              <a:t>condition-action rule</a:t>
            </a:r>
            <a:r>
              <a:rPr lang="en-US" sz="2000" dirty="0"/>
              <a:t>, written as </a:t>
            </a:r>
            <a:endParaRPr lang="en-US" sz="2000" dirty="0"/>
          </a:p>
          <a:p>
            <a:r>
              <a:rPr lang="en-US" sz="2000" b="1" dirty="0"/>
              <a:t>		if </a:t>
            </a:r>
            <a:r>
              <a:rPr lang="en-US" sz="2000" b="1" i="1" dirty="0"/>
              <a:t>car-in-front-is-braking then initiate-braking. </a:t>
            </a:r>
            <a:endParaRPr lang="en-US" sz="2000" dirty="0"/>
          </a:p>
        </p:txBody>
      </p:sp>
      <p:sp>
        <p:nvSpPr>
          <p:cNvPr id="5" name="Rectangle 4"/>
          <p:cNvSpPr/>
          <p:nvPr/>
        </p:nvSpPr>
        <p:spPr>
          <a:xfrm>
            <a:off x="150604" y="3447264"/>
            <a:ext cx="8943194" cy="707886"/>
          </a:xfrm>
          <a:prstGeom prst="rect">
            <a:avLst/>
          </a:prstGeom>
        </p:spPr>
        <p:txBody>
          <a:bodyPr wrap="square">
            <a:spAutoFit/>
          </a:bodyPr>
          <a:lstStyle/>
          <a:p>
            <a:pPr algn="just"/>
            <a:r>
              <a:rPr lang="en-US" sz="2000" dirty="0"/>
              <a:t>general and flexible approach is first to build a general-purpose interpreter for condition-action rules and then to create rule sets for specific task environments. </a:t>
            </a:r>
            <a:endParaRPr lang="en-US" sz="2000" dirty="0"/>
          </a:p>
        </p:txBody>
      </p:sp>
      <p:pic>
        <p:nvPicPr>
          <p:cNvPr id="6" name="Picture 5"/>
          <p:cNvPicPr>
            <a:picLocks noChangeAspect="1"/>
          </p:cNvPicPr>
          <p:nvPr/>
        </p:nvPicPr>
        <p:blipFill>
          <a:blip r:embed="rId1"/>
          <a:stretch>
            <a:fillRect/>
          </a:stretch>
        </p:blipFill>
        <p:spPr>
          <a:xfrm>
            <a:off x="100403" y="4332544"/>
            <a:ext cx="9043597" cy="2525455"/>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1"/>
          <a:stretch>
            <a:fillRect/>
          </a:stretch>
        </p:blipFill>
        <p:spPr>
          <a:xfrm>
            <a:off x="93050" y="116547"/>
            <a:ext cx="8988604" cy="6741452"/>
          </a:xfrm>
          <a:prstGeom prst="rect">
            <a:avLst/>
          </a:prstGeom>
        </p:spPr>
      </p:pic>
      <p:sp>
        <p:nvSpPr>
          <p:cNvPr id="7" name="TextBox 6"/>
          <p:cNvSpPr txBox="1"/>
          <p:nvPr/>
        </p:nvSpPr>
        <p:spPr>
          <a:xfrm>
            <a:off x="7678414" y="323005"/>
            <a:ext cx="1288473" cy="2031325"/>
          </a:xfrm>
          <a:prstGeom prst="rect">
            <a:avLst/>
          </a:prstGeom>
          <a:noFill/>
        </p:spPr>
        <p:txBody>
          <a:bodyPr wrap="square" rtlCol="0">
            <a:spAutoFit/>
          </a:bodyPr>
          <a:lstStyle/>
          <a:p>
            <a:pPr algn="ctr"/>
            <a:r>
              <a:rPr lang="en-US" sz="1400" b="1" dirty="0">
                <a:solidFill>
                  <a:srgbClr val="FF0000"/>
                </a:solidFill>
              </a:rPr>
              <a:t>Problem??</a:t>
            </a:r>
            <a:endParaRPr lang="en-US" sz="1400" b="1" dirty="0">
              <a:solidFill>
                <a:srgbClr val="FF0000"/>
              </a:solidFill>
            </a:endParaRPr>
          </a:p>
          <a:p>
            <a:pPr algn="ctr"/>
            <a:r>
              <a:rPr lang="en-US" sz="1400" b="1" dirty="0"/>
              <a:t>Infinite Loop in Deterministic</a:t>
            </a:r>
            <a:endParaRPr lang="en-US" sz="1400" b="1" dirty="0"/>
          </a:p>
          <a:p>
            <a:pPr algn="ctr"/>
            <a:r>
              <a:rPr lang="en-US" sz="1400" b="1" dirty="0"/>
              <a:t>SRA</a:t>
            </a:r>
            <a:endParaRPr lang="en-US" sz="1400" b="1" dirty="0"/>
          </a:p>
          <a:p>
            <a:pPr algn="ctr"/>
            <a:endParaRPr lang="en-US" sz="1400" b="1" dirty="0"/>
          </a:p>
          <a:p>
            <a:pPr algn="ctr"/>
            <a:r>
              <a:rPr lang="en-US" sz="1400" b="1" dirty="0">
                <a:solidFill>
                  <a:srgbClr val="00B050"/>
                </a:solidFill>
              </a:rPr>
              <a:t>Solution??</a:t>
            </a:r>
            <a:endParaRPr lang="en-US" sz="1400" b="1" dirty="0">
              <a:solidFill>
                <a:srgbClr val="00B050"/>
              </a:solidFill>
            </a:endParaRPr>
          </a:p>
          <a:p>
            <a:pPr algn="ctr"/>
            <a:r>
              <a:rPr lang="en-US" sz="1400" b="1" dirty="0"/>
              <a:t>Randomized SRA</a:t>
            </a:r>
            <a:endParaRPr lang="en-US" sz="1400" b="1" dirty="0"/>
          </a:p>
        </p:txBody>
      </p:sp>
      <p:sp>
        <p:nvSpPr>
          <p:cNvPr id="8" name="TextBox 7"/>
          <p:cNvSpPr txBox="1"/>
          <p:nvPr/>
        </p:nvSpPr>
        <p:spPr>
          <a:xfrm>
            <a:off x="5981780" y="5344180"/>
            <a:ext cx="2299306" cy="738664"/>
          </a:xfrm>
          <a:prstGeom prst="rect">
            <a:avLst/>
          </a:prstGeom>
          <a:noFill/>
        </p:spPr>
        <p:txBody>
          <a:bodyPr wrap="none" rtlCol="0">
            <a:spAutoFit/>
          </a:bodyPr>
          <a:lstStyle/>
          <a:p>
            <a:r>
              <a:rPr lang="en-US" sz="1400" b="1" dirty="0">
                <a:solidFill>
                  <a:srgbClr val="FF0000"/>
                </a:solidFill>
              </a:rPr>
              <a:t>What will happen? when, </a:t>
            </a:r>
            <a:endParaRPr lang="en-US" sz="1400" b="1" dirty="0">
              <a:solidFill>
                <a:srgbClr val="FF0000"/>
              </a:solidFill>
            </a:endParaRPr>
          </a:p>
          <a:p>
            <a:r>
              <a:rPr lang="en-US" sz="1400" b="1" dirty="0">
                <a:solidFill>
                  <a:srgbClr val="FF0000"/>
                </a:solidFill>
              </a:rPr>
              <a:t>Vacuum Cleaner with poor perception!</a:t>
            </a:r>
            <a:endParaRPr lang="en-US" sz="1400" b="1" dirty="0">
              <a:solidFill>
                <a:srgbClr val="FF0000"/>
              </a:solidFill>
            </a:endParaRPr>
          </a:p>
          <a:p>
            <a:r>
              <a:rPr lang="en-US" sz="1400" b="1" dirty="0">
                <a:solidFill>
                  <a:srgbClr val="FF0000"/>
                </a:solidFill>
              </a:rPr>
              <a:t>Without location sensor ! </a:t>
            </a:r>
            <a:endParaRPr lang="en-US" sz="1400" b="1" dirty="0">
              <a:solidFill>
                <a:srgbClr val="FF0000"/>
              </a:solidFill>
            </a:endParaRPr>
          </a:p>
        </p:txBody>
      </p:sp>
      <p:sp>
        <p:nvSpPr>
          <p:cNvPr id="9" name="TextBox 8"/>
          <p:cNvSpPr txBox="1"/>
          <p:nvPr/>
        </p:nvSpPr>
        <p:spPr>
          <a:xfrm>
            <a:off x="155396" y="1400223"/>
            <a:ext cx="1288473" cy="1169551"/>
          </a:xfrm>
          <a:prstGeom prst="rect">
            <a:avLst/>
          </a:prstGeom>
          <a:noFill/>
        </p:spPr>
        <p:txBody>
          <a:bodyPr wrap="square" rtlCol="0">
            <a:spAutoFit/>
          </a:bodyPr>
          <a:lstStyle/>
          <a:p>
            <a:pPr algn="ctr"/>
            <a:r>
              <a:rPr lang="en-US" sz="1400" b="1" dirty="0"/>
              <a:t>Works only if the Environment is </a:t>
            </a:r>
            <a:endParaRPr lang="en-US" sz="1400" b="1" dirty="0"/>
          </a:p>
          <a:p>
            <a:pPr algn="ctr"/>
            <a:r>
              <a:rPr lang="en-US" sz="1400" b="1" dirty="0"/>
              <a:t>Fully Observable</a:t>
            </a:r>
            <a:endParaRPr lang="en-US" sz="1400" b="1"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br>
              <a:rPr lang="en-US" sz="4400" dirty="0"/>
            </a:br>
            <a:r>
              <a:rPr lang="en-US" sz="4400" b="1" dirty="0"/>
              <a:t>SIMPLE REFLEX AGENTS </a:t>
            </a:r>
            <a:endParaRPr lang="en-US" dirty="0"/>
          </a:p>
        </p:txBody>
      </p:sp>
      <p:sp>
        <p:nvSpPr>
          <p:cNvPr id="3" name="Rectangle 2"/>
          <p:cNvSpPr/>
          <p:nvPr/>
        </p:nvSpPr>
        <p:spPr>
          <a:xfrm>
            <a:off x="421341" y="2475875"/>
            <a:ext cx="8004507" cy="2800767"/>
          </a:xfrm>
          <a:prstGeom prst="rect">
            <a:avLst/>
          </a:prstGeom>
        </p:spPr>
        <p:txBody>
          <a:bodyPr wrap="square">
            <a:spAutoFit/>
          </a:bodyPr>
          <a:lstStyle/>
          <a:p>
            <a:r>
              <a:rPr lang="en-US" sz="2200" dirty="0">
                <a:solidFill>
                  <a:prstClr val="black"/>
                </a:solidFill>
              </a:rPr>
              <a:t>Simple reflex agents have the admirable property of being simple, but they turn out to be of limited intelligence. </a:t>
            </a:r>
            <a:endParaRPr lang="en-US" sz="2200" dirty="0">
              <a:solidFill>
                <a:prstClr val="black"/>
              </a:solidFill>
            </a:endParaRPr>
          </a:p>
          <a:p>
            <a:endParaRPr lang="en-US" sz="2200" dirty="0">
              <a:solidFill>
                <a:prstClr val="black"/>
              </a:solidFill>
            </a:endParaRPr>
          </a:p>
          <a:p>
            <a:r>
              <a:rPr lang="en-US" sz="2200" dirty="0">
                <a:solidFill>
                  <a:prstClr val="black"/>
                </a:solidFill>
              </a:rPr>
              <a:t>The agent in Figure 2.10 will work only if the correct decision can be</a:t>
            </a:r>
            <a:endParaRPr lang="en-US" sz="2200" dirty="0">
              <a:solidFill>
                <a:prstClr val="black"/>
              </a:solidFill>
            </a:endParaRPr>
          </a:p>
          <a:p>
            <a:r>
              <a:rPr lang="en-US" sz="2200" dirty="0">
                <a:solidFill>
                  <a:prstClr val="black"/>
                </a:solidFill>
              </a:rPr>
              <a:t>made based on only the current percept—that is, only if the environment is fully observable.</a:t>
            </a:r>
            <a:endParaRPr lang="en-US" sz="2200" dirty="0">
              <a:solidFill>
                <a:prstClr val="black"/>
              </a:solidFill>
            </a:endParaRPr>
          </a:p>
          <a:p>
            <a:endParaRPr lang="en-US" sz="2200" dirty="0">
              <a:solidFill>
                <a:prstClr val="black"/>
              </a:solidFill>
            </a:endParaRPr>
          </a:p>
          <a:p>
            <a:r>
              <a:rPr lang="en-US" sz="2200" dirty="0">
                <a:solidFill>
                  <a:prstClr val="black"/>
                </a:solidFill>
              </a:rPr>
              <a:t>Even a little bit of unobservability can cause serious trouble.</a:t>
            </a:r>
            <a:endParaRPr lang="en-US" sz="2200" dirty="0">
              <a:solidFill>
                <a:prstClr val="black"/>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6597" y="461912"/>
            <a:ext cx="7808976" cy="1088136"/>
          </a:xfrm>
        </p:spPr>
        <p:txBody>
          <a:bodyPr>
            <a:normAutofit fontScale="90000"/>
          </a:bodyPr>
          <a:lstStyle/>
          <a:p>
            <a:br>
              <a:rPr lang="en-US" dirty="0"/>
            </a:br>
            <a:r>
              <a:rPr lang="en-US" b="1" dirty="0"/>
              <a:t>MODEL-BASED REFLEX AGENTS </a:t>
            </a:r>
            <a:endParaRPr lang="en-US" dirty="0"/>
          </a:p>
        </p:txBody>
      </p:sp>
      <p:sp>
        <p:nvSpPr>
          <p:cNvPr id="4" name="Rectangle 3"/>
          <p:cNvSpPr/>
          <p:nvPr/>
        </p:nvSpPr>
        <p:spPr>
          <a:xfrm>
            <a:off x="266597" y="2190769"/>
            <a:ext cx="8364785" cy="1477328"/>
          </a:xfrm>
          <a:prstGeom prst="rect">
            <a:avLst/>
          </a:prstGeom>
        </p:spPr>
        <p:txBody>
          <a:bodyPr wrap="square">
            <a:spAutoFit/>
          </a:bodyPr>
          <a:lstStyle/>
          <a:p>
            <a:pPr algn="just"/>
            <a:r>
              <a:rPr lang="en-US" i="1" dirty="0"/>
              <a:t>keep track of the part of the world it can't see now. [</a:t>
            </a:r>
            <a:r>
              <a:rPr lang="en-US" dirty="0"/>
              <a:t>handle partial observability]</a:t>
            </a:r>
            <a:r>
              <a:rPr lang="en-US" i="1" dirty="0"/>
              <a:t> </a:t>
            </a:r>
            <a:endParaRPr lang="en-US" dirty="0"/>
          </a:p>
          <a:p>
            <a:pPr algn="just"/>
            <a:endParaRPr lang="en-US" b="1" dirty="0"/>
          </a:p>
          <a:p>
            <a:pPr algn="just"/>
            <a:r>
              <a:rPr lang="en-US" dirty="0"/>
              <a:t>That is, the agent should maintain some sort of </a:t>
            </a:r>
            <a:r>
              <a:rPr lang="en-US" b="1" dirty="0"/>
              <a:t>internal state </a:t>
            </a:r>
            <a:r>
              <a:rPr lang="en-US" dirty="0"/>
              <a:t>that depends on the percept history and thereby reflects at least some of the unobserved aspects of the current state. </a:t>
            </a:r>
            <a:endParaRPr lang="en-US" dirty="0"/>
          </a:p>
        </p:txBody>
      </p:sp>
      <p:sp>
        <p:nvSpPr>
          <p:cNvPr id="6" name="Rectangle 5"/>
          <p:cNvSpPr/>
          <p:nvPr/>
        </p:nvSpPr>
        <p:spPr>
          <a:xfrm>
            <a:off x="266597" y="3391098"/>
            <a:ext cx="8364785" cy="2308324"/>
          </a:xfrm>
          <a:prstGeom prst="rect">
            <a:avLst/>
          </a:prstGeom>
        </p:spPr>
        <p:txBody>
          <a:bodyPr wrap="square">
            <a:spAutoFit/>
          </a:bodyPr>
          <a:lstStyle/>
          <a:p>
            <a:pPr algn="just"/>
            <a:endParaRPr lang="en-US" dirty="0"/>
          </a:p>
          <a:p>
            <a:pPr algn="just"/>
            <a:r>
              <a:rPr lang="en-US" dirty="0"/>
              <a:t>Updating this internal state information as time goes by requires two kinds of knowledge to be encoded in the agent program. </a:t>
            </a:r>
            <a:endParaRPr lang="en-US" dirty="0"/>
          </a:p>
          <a:p>
            <a:pPr algn="just"/>
            <a:endParaRPr lang="en-US" dirty="0"/>
          </a:p>
          <a:p>
            <a:r>
              <a:rPr lang="en-US" b="1" dirty="0"/>
              <a:t>First, </a:t>
            </a:r>
            <a:r>
              <a:rPr lang="en-US" dirty="0"/>
              <a:t>we need some information about </a:t>
            </a:r>
            <a:r>
              <a:rPr lang="en-US" b="1" dirty="0"/>
              <a:t>how the world evolves </a:t>
            </a:r>
            <a:r>
              <a:rPr lang="en-US" dirty="0"/>
              <a:t>independently of the agent-- for example, that an overtaking car generally will be closer behind than it was a moment ago.</a:t>
            </a:r>
            <a:endParaRPr lang="en-US" dirty="0"/>
          </a:p>
          <a:p>
            <a:pPr algn="just"/>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6597" y="461912"/>
            <a:ext cx="7808976" cy="1088136"/>
          </a:xfrm>
        </p:spPr>
        <p:txBody>
          <a:bodyPr>
            <a:normAutofit fontScale="90000"/>
          </a:bodyPr>
          <a:lstStyle/>
          <a:p>
            <a:br>
              <a:rPr lang="en-US" dirty="0"/>
            </a:br>
            <a:r>
              <a:rPr lang="en-US" b="1" dirty="0"/>
              <a:t>MODEL-BASED REFLEX AGENTS </a:t>
            </a:r>
            <a:endParaRPr lang="en-US" dirty="0"/>
          </a:p>
        </p:txBody>
      </p:sp>
      <p:sp>
        <p:nvSpPr>
          <p:cNvPr id="6" name="Rectangle 5"/>
          <p:cNvSpPr/>
          <p:nvPr/>
        </p:nvSpPr>
        <p:spPr>
          <a:xfrm>
            <a:off x="266597" y="2199607"/>
            <a:ext cx="8364785" cy="2308324"/>
          </a:xfrm>
          <a:prstGeom prst="rect">
            <a:avLst/>
          </a:prstGeom>
        </p:spPr>
        <p:txBody>
          <a:bodyPr wrap="square">
            <a:spAutoFit/>
          </a:bodyPr>
          <a:lstStyle/>
          <a:p>
            <a:pPr algn="just"/>
            <a:r>
              <a:rPr lang="en-US" b="1" dirty="0"/>
              <a:t>Second, </a:t>
            </a:r>
            <a:r>
              <a:rPr lang="en-US" dirty="0"/>
              <a:t>we need some information about </a:t>
            </a:r>
            <a:r>
              <a:rPr lang="en-US" b="1" dirty="0"/>
              <a:t>how the agent’s own actions affect </a:t>
            </a:r>
            <a:r>
              <a:rPr lang="en-US" dirty="0"/>
              <a:t>the world—for example, that when the agent turns the steering wheel clockwise, the car turns to the right, or that after driving for five minutes northbound on the freeway, one is usually about five miles north of where one was five minutes ago. </a:t>
            </a:r>
            <a:endParaRPr lang="en-US" dirty="0"/>
          </a:p>
          <a:p>
            <a:pPr algn="just"/>
            <a:endParaRPr lang="en-US" dirty="0"/>
          </a:p>
          <a:p>
            <a:pPr algn="just"/>
            <a:r>
              <a:rPr lang="en-US" dirty="0"/>
              <a:t>This knowledge about “how the world works”—whether implemented in simple Boolean circuits or in complete scientific theories—is called a </a:t>
            </a:r>
            <a:r>
              <a:rPr lang="en-US" b="1" dirty="0"/>
              <a:t>model of the world</a:t>
            </a:r>
            <a:r>
              <a:rPr lang="en-US" dirty="0"/>
              <a:t>. An agent that uses such a model is called a </a:t>
            </a:r>
            <a:r>
              <a:rPr lang="en-US" b="1" dirty="0"/>
              <a:t>model-based agent</a:t>
            </a:r>
            <a:r>
              <a:rPr lang="en-US" dirty="0"/>
              <a:t>.</a:t>
            </a: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6597" y="461912"/>
            <a:ext cx="7808976" cy="1088136"/>
          </a:xfrm>
        </p:spPr>
        <p:txBody>
          <a:bodyPr>
            <a:normAutofit fontScale="90000"/>
          </a:bodyPr>
          <a:lstStyle/>
          <a:p>
            <a:br>
              <a:rPr lang="en-US" dirty="0"/>
            </a:br>
            <a:r>
              <a:rPr lang="en-US" b="1" dirty="0"/>
              <a:t>MODEL-BASED REFLEX AGENTS </a:t>
            </a:r>
            <a:endParaRPr lang="en-US" dirty="0"/>
          </a:p>
        </p:txBody>
      </p:sp>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66597" y="0"/>
            <a:ext cx="8697294" cy="3590925"/>
          </a:xfrm>
          <a:prstGeom prst="rect">
            <a:avLst/>
          </a:prstGeom>
        </p:spPr>
      </p:pic>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597" y="3683476"/>
            <a:ext cx="8697293" cy="302895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GOAL-BASED AGENT</a:t>
            </a:r>
            <a:endParaRPr lang="en-US" dirty="0"/>
          </a:p>
        </p:txBody>
      </p:sp>
      <p:sp>
        <p:nvSpPr>
          <p:cNvPr id="7" name="TextBox 6"/>
          <p:cNvSpPr txBox="1"/>
          <p:nvPr/>
        </p:nvSpPr>
        <p:spPr>
          <a:xfrm>
            <a:off x="421341" y="2452255"/>
            <a:ext cx="184731" cy="369332"/>
          </a:xfrm>
          <a:prstGeom prst="rect">
            <a:avLst/>
          </a:prstGeom>
          <a:noFill/>
        </p:spPr>
        <p:txBody>
          <a:bodyPr wrap="none" rtlCol="0">
            <a:spAutoFit/>
          </a:bodyPr>
          <a:lstStyle/>
          <a:p>
            <a:endParaRPr lang="en-US" dirty="0"/>
          </a:p>
        </p:txBody>
      </p:sp>
      <p:sp>
        <p:nvSpPr>
          <p:cNvPr id="8" name="TextBox 7"/>
          <p:cNvSpPr txBox="1"/>
          <p:nvPr/>
        </p:nvSpPr>
        <p:spPr>
          <a:xfrm>
            <a:off x="421342" y="2276702"/>
            <a:ext cx="8237750" cy="3139321"/>
          </a:xfrm>
          <a:prstGeom prst="rect">
            <a:avLst/>
          </a:prstGeom>
          <a:noFill/>
        </p:spPr>
        <p:txBody>
          <a:bodyPr wrap="square" rtlCol="0">
            <a:spAutoFit/>
          </a:bodyPr>
          <a:lstStyle/>
          <a:p>
            <a:pPr algn="just"/>
            <a:r>
              <a:rPr lang="en-US" dirty="0"/>
              <a:t>Knowing something about the current state of the environment is not always enough to decide what to do. </a:t>
            </a:r>
            <a:endParaRPr lang="en-US" dirty="0"/>
          </a:p>
          <a:p>
            <a:pPr algn="just"/>
            <a:endParaRPr lang="en-US" dirty="0"/>
          </a:p>
          <a:p>
            <a:pPr algn="just"/>
            <a:r>
              <a:rPr lang="en-US" dirty="0"/>
              <a:t>For example, at a road junction, the taxi can turn left, turn right, or go straight on. The correct decision depends on where the taxi is trying to get to. In other words, as well as a current state description, the agent needs some sort of </a:t>
            </a:r>
            <a:r>
              <a:rPr lang="en-US" b="1" dirty="0"/>
              <a:t>goal </a:t>
            </a:r>
            <a:r>
              <a:rPr lang="en-US" dirty="0"/>
              <a:t>information that describes situations that are desirable—for example, being at the passenger’s destination. </a:t>
            </a:r>
            <a:endParaRPr lang="en-US" dirty="0"/>
          </a:p>
          <a:p>
            <a:pPr algn="just"/>
            <a:endParaRPr lang="en-US" dirty="0"/>
          </a:p>
          <a:p>
            <a:pPr algn="just"/>
            <a:r>
              <a:rPr lang="en-US" dirty="0"/>
              <a:t>The agent program can combine this with the model (the same information as was used in the model-based reflex agent) to choose actions that achieve the goal. </a:t>
            </a: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GOAL-BASED AGENT</a:t>
            </a:r>
            <a:endParaRPr lang="en-US" dirty="0"/>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21341" y="2065193"/>
            <a:ext cx="8234796" cy="4740572"/>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GOAL-BASED AGENT</a:t>
            </a:r>
            <a:endParaRPr lang="en-US" dirty="0"/>
          </a:p>
        </p:txBody>
      </p:sp>
      <p:sp>
        <p:nvSpPr>
          <p:cNvPr id="7" name="TextBox 6"/>
          <p:cNvSpPr txBox="1"/>
          <p:nvPr/>
        </p:nvSpPr>
        <p:spPr>
          <a:xfrm>
            <a:off x="421341" y="2452255"/>
            <a:ext cx="184731" cy="369332"/>
          </a:xfrm>
          <a:prstGeom prst="rect">
            <a:avLst/>
          </a:prstGeom>
          <a:noFill/>
        </p:spPr>
        <p:txBody>
          <a:bodyPr wrap="none" rtlCol="0">
            <a:spAutoFit/>
          </a:bodyPr>
          <a:lstStyle/>
          <a:p>
            <a:endParaRPr lang="en-US" dirty="0"/>
          </a:p>
        </p:txBody>
      </p:sp>
      <p:sp>
        <p:nvSpPr>
          <p:cNvPr id="8" name="TextBox 7"/>
          <p:cNvSpPr txBox="1"/>
          <p:nvPr/>
        </p:nvSpPr>
        <p:spPr>
          <a:xfrm>
            <a:off x="421342" y="2276702"/>
            <a:ext cx="8237750" cy="3970318"/>
          </a:xfrm>
          <a:prstGeom prst="rect">
            <a:avLst/>
          </a:prstGeom>
          <a:noFill/>
        </p:spPr>
        <p:txBody>
          <a:bodyPr wrap="square" rtlCol="0">
            <a:spAutoFit/>
          </a:bodyPr>
          <a:lstStyle/>
          <a:p>
            <a:pPr algn="just"/>
            <a:r>
              <a:rPr lang="en-US" dirty="0"/>
              <a:t>Sometimes goal-based action selection is straightforward—for example, when goal satisfaction results immediately from a single action. </a:t>
            </a:r>
            <a:endParaRPr lang="en-US" dirty="0"/>
          </a:p>
          <a:p>
            <a:pPr algn="just"/>
            <a:endParaRPr lang="en-US" dirty="0"/>
          </a:p>
          <a:p>
            <a:pPr algn="just"/>
            <a:r>
              <a:rPr lang="en-US" dirty="0"/>
              <a:t>Sometimes it will be more tricky—for example, when the agent has to consider long sequences of twists and turns in order to find a way to achieve the goal. </a:t>
            </a:r>
            <a:endParaRPr lang="en-US" dirty="0"/>
          </a:p>
          <a:p>
            <a:pPr algn="just"/>
            <a:endParaRPr lang="en-US" dirty="0"/>
          </a:p>
          <a:p>
            <a:pPr algn="just"/>
            <a:r>
              <a:rPr lang="en-US" b="1" dirty="0"/>
              <a:t>Search</a:t>
            </a:r>
            <a:r>
              <a:rPr lang="en-US" dirty="0"/>
              <a:t> (Chapters 3 to 5) and </a:t>
            </a:r>
            <a:r>
              <a:rPr lang="en-US" b="1" dirty="0"/>
              <a:t>planning</a:t>
            </a:r>
            <a:r>
              <a:rPr lang="en-US" dirty="0"/>
              <a:t> (Chapters 10 and 11) are the subfields of AI devoted to finding action sequences that achieve the agent’s goals.</a:t>
            </a:r>
            <a:endParaRPr lang="en-US" dirty="0"/>
          </a:p>
          <a:p>
            <a:pPr algn="just"/>
            <a:endParaRPr lang="en-US" dirty="0"/>
          </a:p>
          <a:p>
            <a:pPr algn="just"/>
            <a:r>
              <a:rPr lang="en-US" b="1" dirty="0"/>
              <a:t>The goal-based agent’s</a:t>
            </a:r>
            <a:r>
              <a:rPr lang="en-US" dirty="0"/>
              <a:t> behavior can easily be changed to go to a different destination, simply by specifying that destination as the goal. </a:t>
            </a:r>
            <a:r>
              <a:rPr lang="en-US" b="1" dirty="0"/>
              <a:t>The reflex agent’s </a:t>
            </a:r>
            <a:r>
              <a:rPr lang="en-US" dirty="0"/>
              <a:t>rules for when to turn and when to go straight will work only for a single destination; they must all be replaced to go somewhere new.</a:t>
            </a:r>
            <a:endParaRPr lang="en-US" dirty="0"/>
          </a:p>
          <a:p>
            <a:pPr algn="just"/>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br>
              <a:rPr lang="en-US" sz="4400" dirty="0"/>
            </a:br>
            <a:r>
              <a:rPr lang="en-US" sz="4400" b="1" dirty="0"/>
              <a:t>UTILITY-BASED AGENTS 	</a:t>
            </a:r>
            <a:endParaRPr lang="en-US" dirty="0"/>
          </a:p>
        </p:txBody>
      </p:sp>
      <p:sp>
        <p:nvSpPr>
          <p:cNvPr id="8" name="Rectangle 7"/>
          <p:cNvSpPr/>
          <p:nvPr/>
        </p:nvSpPr>
        <p:spPr>
          <a:xfrm>
            <a:off x="235527" y="2196750"/>
            <a:ext cx="8520546" cy="3170099"/>
          </a:xfrm>
          <a:prstGeom prst="rect">
            <a:avLst/>
          </a:prstGeom>
        </p:spPr>
        <p:txBody>
          <a:bodyPr wrap="square">
            <a:spAutoFit/>
          </a:bodyPr>
          <a:lstStyle/>
          <a:p>
            <a:pPr algn="just"/>
            <a:r>
              <a:rPr lang="en-US" sz="2000" dirty="0"/>
              <a:t>Goals alone are not enough to generate high-quality behavior in most environments. For example, many action sequences will get the taxi to its destination (thereby achieving the goal) but </a:t>
            </a:r>
            <a:r>
              <a:rPr lang="en-US" sz="2000" b="1" dirty="0"/>
              <a:t>some are quicker, safer, more reliable, or cheaper than others</a:t>
            </a:r>
            <a:r>
              <a:rPr lang="en-US" sz="2000" dirty="0"/>
              <a:t>. </a:t>
            </a:r>
            <a:endParaRPr lang="en-US" sz="2000" dirty="0"/>
          </a:p>
          <a:p>
            <a:pPr algn="just"/>
            <a:endParaRPr lang="en-US" sz="2000" dirty="0"/>
          </a:p>
          <a:p>
            <a:pPr algn="just"/>
            <a:r>
              <a:rPr lang="en-US" sz="2000" dirty="0"/>
              <a:t>Goals just provide a crude binary distinction between “happy” and “unhappy” states. A more general performance measure should allow a comparison of different world states according to exactly how happy they would make the agent. Because “happy” does not sound very scientific, economists and computer scientists use the term </a:t>
            </a:r>
            <a:r>
              <a:rPr lang="en-US" sz="2000" b="1" dirty="0"/>
              <a:t>utility </a:t>
            </a:r>
            <a:r>
              <a:rPr lang="en-US" sz="2000" dirty="0"/>
              <a:t>instead.</a:t>
            </a:r>
            <a:endParaRPr lang="en-US" sz="2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br>
              <a:rPr lang="en-US" sz="4400" dirty="0"/>
            </a:br>
            <a:r>
              <a:rPr lang="en-US" sz="4400" b="1" dirty="0"/>
              <a:t>UTILITY-BASED AGENTS 	</a:t>
            </a:r>
            <a:endParaRPr lang="en-US" dirty="0"/>
          </a:p>
        </p:txBody>
      </p:sp>
      <p:sp>
        <p:nvSpPr>
          <p:cNvPr id="8" name="Rectangle 7"/>
          <p:cNvSpPr/>
          <p:nvPr/>
        </p:nvSpPr>
        <p:spPr>
          <a:xfrm>
            <a:off x="235527" y="2196750"/>
            <a:ext cx="8520546" cy="4401205"/>
          </a:xfrm>
          <a:prstGeom prst="rect">
            <a:avLst/>
          </a:prstGeom>
        </p:spPr>
        <p:txBody>
          <a:bodyPr wrap="square">
            <a:spAutoFit/>
          </a:bodyPr>
          <a:lstStyle/>
          <a:p>
            <a:pPr algn="just"/>
            <a:r>
              <a:rPr lang="en-US" sz="2000" dirty="0"/>
              <a:t>An agent’s </a:t>
            </a:r>
            <a:r>
              <a:rPr lang="en-US" sz="2000" b="1" dirty="0"/>
              <a:t>utility function </a:t>
            </a:r>
            <a:r>
              <a:rPr lang="en-US" sz="2000" dirty="0"/>
              <a:t>is essentially an internalization of the performance measure. If the internal utility function and the external performance measure are in agreement, then an agent that chooses actions to maximize its utility will be rational according to the external performance measure.</a:t>
            </a:r>
            <a:endParaRPr lang="en-US" sz="2000" dirty="0"/>
          </a:p>
          <a:p>
            <a:pPr algn="just"/>
            <a:endParaRPr lang="en-US" sz="2000" dirty="0"/>
          </a:p>
          <a:p>
            <a:pPr algn="just"/>
            <a:r>
              <a:rPr lang="en-US" sz="2000" dirty="0"/>
              <a:t>In two kinds of cases, goals are inadequate, but a utility-based agent can still make rational decisions.</a:t>
            </a:r>
            <a:endParaRPr lang="en-US" sz="2000" dirty="0"/>
          </a:p>
          <a:p>
            <a:pPr marL="457200" indent="-457200" algn="just">
              <a:buAutoNum type="arabicPeriod"/>
            </a:pPr>
            <a:r>
              <a:rPr lang="en-US" sz="2000" dirty="0"/>
              <a:t>when there are conflicting goals, only some of which can </a:t>
            </a:r>
            <a:r>
              <a:rPr lang="en-US" sz="2000" i="1" dirty="0"/>
              <a:t>be achieved (for example, speed and safety), the utility function specifies the appropriate tradeoff.</a:t>
            </a:r>
            <a:endParaRPr lang="en-US" sz="2000" i="1" dirty="0"/>
          </a:p>
          <a:p>
            <a:pPr marL="457200" indent="-457200" algn="just">
              <a:buAutoNum type="arabicPeriod"/>
            </a:pPr>
            <a:r>
              <a:rPr lang="en-US" sz="2000" dirty="0"/>
              <a:t>when there are several goals that the agent can aim for, none of which can be achieved with certainty, utility provides a way in which the likelihood of success can be weighed against the importance of the goals.</a:t>
            </a:r>
            <a:endParaRPr lang="en-US" sz="2000" i="1" dirty="0"/>
          </a:p>
          <a:p>
            <a:pPr algn="just"/>
            <a:endParaRPr lang="en-US" sz="2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dirty="0"/>
          </a:p>
        </p:txBody>
      </p:sp>
      <p:pic>
        <p:nvPicPr>
          <p:cNvPr id="3" name="Picture 2"/>
          <p:cNvPicPr>
            <a:picLocks noChangeAspect="1"/>
          </p:cNvPicPr>
          <p:nvPr/>
        </p:nvPicPr>
        <p:blipFill>
          <a:blip r:embed="rId1"/>
          <a:stretch>
            <a:fillRect/>
          </a:stretch>
        </p:blipFill>
        <p:spPr>
          <a:xfrm>
            <a:off x="0" y="0"/>
            <a:ext cx="9186499" cy="68580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LEARNING AGENT</a:t>
            </a:r>
            <a:endParaRPr lang="en-US" dirty="0"/>
          </a:p>
        </p:txBody>
      </p:sp>
      <p:pic>
        <p:nvPicPr>
          <p:cNvPr id="3" name="Picture 2"/>
          <p:cNvPicPr>
            <a:picLocks noChangeAspect="1"/>
          </p:cNvPicPr>
          <p:nvPr/>
        </p:nvPicPr>
        <p:blipFill>
          <a:blip r:embed="rId1"/>
          <a:stretch>
            <a:fillRect/>
          </a:stretch>
        </p:blipFill>
        <p:spPr>
          <a:xfrm>
            <a:off x="0" y="1891664"/>
            <a:ext cx="9144000" cy="4966335"/>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660021"/>
            <a:ext cx="7808976" cy="1088136"/>
          </a:xfrm>
        </p:spPr>
        <p:txBody>
          <a:bodyPr>
            <a:normAutofit fontScale="90000"/>
          </a:bodyPr>
          <a:lstStyle/>
          <a:p>
            <a:r>
              <a:rPr lang="en-US" dirty="0"/>
              <a:t>HOW COMPONENT OF </a:t>
            </a:r>
            <a:br>
              <a:rPr lang="en-US" dirty="0"/>
            </a:br>
            <a:r>
              <a:rPr lang="en-US" dirty="0"/>
              <a:t>AGENT PROGRAMS WORK</a:t>
            </a:r>
            <a:endParaRPr lang="en-US" dirty="0"/>
          </a:p>
        </p:txBody>
      </p:sp>
      <p:pic>
        <p:nvPicPr>
          <p:cNvPr id="3" name="Picture 2"/>
          <p:cNvPicPr>
            <a:picLocks noChangeAspect="1"/>
          </p:cNvPicPr>
          <p:nvPr/>
        </p:nvPicPr>
        <p:blipFill>
          <a:blip r:embed="rId1"/>
          <a:stretch>
            <a:fillRect/>
          </a:stretch>
        </p:blipFill>
        <p:spPr>
          <a:xfrm>
            <a:off x="191305" y="2074970"/>
            <a:ext cx="8812018" cy="4707617"/>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endParaRPr lang="en-US" sz="2600" b="1" dirty="0">
              <a:solidFill>
                <a:schemeClr val="tx1"/>
              </a:solidFill>
            </a:endParaRPr>
          </a:p>
        </p:txBody>
      </p:sp>
      <p:sp>
        <p:nvSpPr>
          <p:cNvPr id="3" name="TextBox 2"/>
          <p:cNvSpPr txBox="1"/>
          <p:nvPr/>
        </p:nvSpPr>
        <p:spPr>
          <a:xfrm>
            <a:off x="335494" y="1577768"/>
            <a:ext cx="8625626" cy="646331"/>
          </a:xfrm>
          <a:prstGeom prst="rect">
            <a:avLst/>
          </a:prstGeom>
          <a:noFill/>
        </p:spPr>
        <p:txBody>
          <a:bodyPr wrap="square" rtlCol="0">
            <a:spAutoFit/>
          </a:bodyPr>
          <a:lstStyle/>
          <a:p>
            <a:pPr marL="342900" indent="-342900">
              <a:buAutoNum type="arabicPeriod"/>
            </a:pPr>
            <a:r>
              <a:rPr lang="en-US" dirty="0"/>
              <a:t>Chapter 2: Intelligent Agents ,  Pages 34-58</a:t>
            </a:r>
            <a:endParaRPr lang="en-US" dirty="0"/>
          </a:p>
          <a:p>
            <a:r>
              <a:rPr lang="en-US" dirty="0"/>
              <a:t>“Artificial Intelligence: A Modern Approach,” by Stuart J. Russell and Peter </a:t>
            </a:r>
            <a:r>
              <a:rPr lang="en-US" dirty="0" err="1"/>
              <a:t>Norvig</a:t>
            </a:r>
            <a:r>
              <a:rPr lang="en-US" dirty="0"/>
              <a:t>, </a:t>
            </a:r>
            <a:endParaRPr lang="x-none"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endParaRPr lang="en-US" sz="2600" b="1" dirty="0">
              <a:solidFill>
                <a:schemeClr val="tx1"/>
              </a:solidFill>
            </a:endParaRPr>
          </a:p>
        </p:txBody>
      </p:sp>
      <p:sp>
        <p:nvSpPr>
          <p:cNvPr id="5" name="TextBox 4"/>
          <p:cNvSpPr txBox="1"/>
          <p:nvPr/>
        </p:nvSpPr>
        <p:spPr>
          <a:xfrm>
            <a:off x="168812" y="1423023"/>
            <a:ext cx="8975188" cy="4708981"/>
          </a:xfrm>
          <a:prstGeom prst="rect">
            <a:avLst/>
          </a:prstGeom>
          <a:noFill/>
        </p:spPr>
        <p:txBody>
          <a:bodyPr wrap="square" rtlCol="0">
            <a:spAutoFit/>
          </a:bodyPr>
          <a:lstStyle/>
          <a:p>
            <a:pPr marL="342900" indent="-342900" algn="just">
              <a:buAutoNum type="arabicPeriod"/>
            </a:pPr>
            <a:r>
              <a:rPr lang="en-US" sz="2000" dirty="0"/>
              <a:t>“Artificial Intelligence: A Modern Approach,” by Stuart J. Russell and Peter </a:t>
            </a:r>
            <a:r>
              <a:rPr lang="en-US" sz="2000" dirty="0" err="1"/>
              <a:t>Norvig</a:t>
            </a:r>
            <a:r>
              <a:rPr lang="en-US" sz="2000" dirty="0"/>
              <a:t>.</a:t>
            </a:r>
            <a:endParaRPr lang="en-US" sz="2000" dirty="0"/>
          </a:p>
          <a:p>
            <a:pPr marL="342900" indent="-342900" algn="just">
              <a:buAutoNum type="arabicPeriod"/>
            </a:pPr>
            <a:r>
              <a:rPr lang="en-US" sz="2000" dirty="0"/>
              <a:t>"Artificial Intelligence: Structures and Strategies for Complex Problem Solving", by George F. Luger, (2002) </a:t>
            </a:r>
            <a:endParaRPr lang="en-US" sz="2000" dirty="0"/>
          </a:p>
          <a:p>
            <a:pPr marL="342900" indent="-342900" algn="just">
              <a:buAutoNum type="arabicPeriod"/>
            </a:pPr>
            <a:r>
              <a:rPr lang="en-US" sz="2000" dirty="0"/>
              <a:t>"Artificial Intelligence: Theory and Practice", by Thomas Dean.</a:t>
            </a:r>
            <a:endParaRPr lang="en-US" sz="2000" dirty="0"/>
          </a:p>
          <a:p>
            <a:pPr marL="342900" indent="-342900" algn="just">
              <a:buAutoNum type="arabicPeriod"/>
            </a:pPr>
            <a:r>
              <a:rPr lang="en-US" sz="2000" dirty="0"/>
              <a:t>"AI: A New Synthesis", by Nils J. Nilsson.</a:t>
            </a:r>
            <a:endParaRPr lang="en-US" sz="2000" dirty="0"/>
          </a:p>
          <a:p>
            <a:pPr marL="342900" indent="-342900" algn="just">
              <a:buAutoNum type="arabicPeriod"/>
            </a:pPr>
            <a:r>
              <a:rPr lang="en-US" sz="2000" dirty="0"/>
              <a:t>“Programming for machine learning,” by J. Ross Quinlan, </a:t>
            </a:r>
            <a:endParaRPr lang="en-US" sz="2000" dirty="0"/>
          </a:p>
          <a:p>
            <a:pPr marL="342900" indent="-342900" algn="just">
              <a:buAutoNum type="arabicPeriod"/>
            </a:pPr>
            <a:r>
              <a:rPr lang="en-US" sz="2000" dirty="0"/>
              <a:t>“Neural Computing Theory and Practice,” by Philip D. Wasserman, .</a:t>
            </a:r>
            <a:endParaRPr lang="en-US" sz="2000" dirty="0"/>
          </a:p>
          <a:p>
            <a:pPr marL="342900" indent="-342900" algn="just">
              <a:buAutoNum type="arabicPeriod"/>
            </a:pPr>
            <a:r>
              <a:rPr lang="en-US" sz="2000" dirty="0"/>
              <a:t>“Neural Network Design,” by Martin T. Hagan, Howard B. Demuth, Mark H. Beale, .</a:t>
            </a:r>
            <a:endParaRPr lang="en-US" sz="2000" dirty="0"/>
          </a:p>
          <a:p>
            <a:pPr marL="342900" indent="-342900" algn="just">
              <a:buAutoNum type="arabicPeriod"/>
            </a:pPr>
            <a:r>
              <a:rPr lang="en-US" sz="2000" dirty="0"/>
              <a:t>“Practical Genetic Algorithms,” by Randy L. Haupt and Sue Ellen Haupt.</a:t>
            </a:r>
            <a:endParaRPr lang="en-US" sz="2000" dirty="0"/>
          </a:p>
          <a:p>
            <a:pPr marL="342900" indent="-342900" algn="just">
              <a:buAutoNum type="arabicPeriod"/>
            </a:pPr>
            <a:r>
              <a:rPr lang="en-US" sz="2000" dirty="0"/>
              <a:t>“Genetic Algorithms in Search, optimization and Machine learning,” by David E. Goldberg.</a:t>
            </a:r>
            <a:endParaRPr lang="en-US" sz="2000" dirty="0"/>
          </a:p>
          <a:p>
            <a:pPr marL="342900" indent="-342900" algn="just">
              <a:buAutoNum type="arabicPeriod"/>
            </a:pPr>
            <a:r>
              <a:rPr lang="en-US" sz="2000" dirty="0"/>
              <a:t>"Computational Intelligence: A Logical Approach", by David Poole, Alan Mackworth, and Randy Goebel.</a:t>
            </a:r>
            <a:endParaRPr lang="en-US" sz="2000" dirty="0"/>
          </a:p>
          <a:p>
            <a:pPr marL="342900" indent="-342900" algn="just">
              <a:buAutoNum type="arabicPeriod"/>
            </a:pPr>
            <a:r>
              <a:rPr lang="en-US" sz="2000" dirty="0"/>
              <a:t>“Introduction to Turbo Prolog”,  by Carl Townsend.</a:t>
            </a:r>
            <a:endParaRPr lang="en-US" sz="2000" dirty="0"/>
          </a:p>
        </p:txBody>
      </p:sp>
    </p:spTree>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F810BBF67D7AB47AE77F6C7A7504E11" ma:contentTypeVersion="0" ma:contentTypeDescription="Create a new document." ma:contentTypeScope="" ma:versionID="a248ef2cc14f185a9cb0052211741135">
  <xsd:schema xmlns:xsd="http://www.w3.org/2001/XMLSchema" xmlns:xs="http://www.w3.org/2001/XMLSchema" xmlns:p="http://schemas.microsoft.com/office/2006/metadata/properties" targetNamespace="http://schemas.microsoft.com/office/2006/metadata/properties" ma:root="true" ma:fieldsID="d413257cd9829394d17656a545d5fa4e">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6A32393-6016-4A67-A014-1A68ADE8D346}">
  <ds:schemaRefs/>
</ds:datastoreItem>
</file>

<file path=customXml/itemProps2.xml><?xml version="1.0" encoding="utf-8"?>
<ds:datastoreItem xmlns:ds="http://schemas.openxmlformats.org/officeDocument/2006/customXml" ds:itemID="{5F254346-3E23-4543-B3B8-72DCF4E3CF3C}">
  <ds:schemaRefs/>
</ds:datastoreItem>
</file>

<file path=customXml/itemProps3.xml><?xml version="1.0" encoding="utf-8"?>
<ds:datastoreItem xmlns:ds="http://schemas.openxmlformats.org/officeDocument/2006/customXml" ds:itemID="{77D4FEB4-5272-4196-8435-CCF16E005FA2}">
  <ds:schemaRefs/>
</ds:datastoreItem>
</file>

<file path=docProps/app.xml><?xml version="1.0" encoding="utf-8"?>
<Properties xmlns="http://schemas.openxmlformats.org/officeDocument/2006/extended-properties" xmlns:vt="http://schemas.openxmlformats.org/officeDocument/2006/docPropsVTypes">
  <Template>Spectrum.thmx</Template>
  <TotalTime>0</TotalTime>
  <Words>16285</Words>
  <Application>WPS Presentation</Application>
  <PresentationFormat>On-screen Show (4:3)</PresentationFormat>
  <Paragraphs>346</Paragraphs>
  <Slides>50</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50</vt:i4>
      </vt:variant>
    </vt:vector>
  </HeadingPairs>
  <TitlesOfParts>
    <vt:vector size="61" baseType="lpstr">
      <vt:lpstr>Arial</vt:lpstr>
      <vt:lpstr>SimSun</vt:lpstr>
      <vt:lpstr>Wingdings</vt:lpstr>
      <vt:lpstr>Wingdings</vt:lpstr>
      <vt:lpstr>Corbel</vt:lpstr>
      <vt:lpstr>Calibri</vt:lpstr>
      <vt:lpstr>Microsoft YaHei</vt:lpstr>
      <vt:lpstr>Arial Unicode MS</vt:lpstr>
      <vt:lpstr>_PDMS_IslamicFont</vt:lpstr>
      <vt:lpstr>Segoe Print</vt:lpstr>
      <vt:lpstr>Spectrum</vt:lpstr>
      <vt:lpstr>PowerPoint 演示文稿</vt:lpstr>
      <vt:lpstr>AGENT</vt:lpstr>
      <vt:lpstr>INTELLIGENT AGENT</vt:lpstr>
      <vt:lpstr>TAXONOMY OF AUTONOMOUS AGENT</vt:lpstr>
      <vt:lpstr>AGENT V/S PROGRAM</vt:lpstr>
      <vt:lpstr>DIFFERENT AGENTS</vt:lpstr>
      <vt:lpstr>AGENTS</vt:lpstr>
      <vt:lpstr>AGENT  FUNCTION</vt:lpstr>
      <vt:lpstr>AGENT  PROGRAM</vt:lpstr>
      <vt:lpstr>AGENT FUNCTION</vt:lpstr>
      <vt:lpstr>VACUUM CLEANING AGENT</vt:lpstr>
      <vt:lpstr>VACUUM CLEANING AGENT</vt:lpstr>
      <vt:lpstr>VACUUM CLEANING AGENT</vt:lpstr>
      <vt:lpstr>DESIRABLE PROPERTIES OF AGENT</vt:lpstr>
      <vt:lpstr>DESIRABLE PROPERTIES OF AGENT</vt:lpstr>
      <vt:lpstr>DESIRABLE PROPERTIES OF AGENT</vt:lpstr>
      <vt:lpstr> GOOD BEHAVIOR:  THE CONCEPT OF RATIONALITY </vt:lpstr>
      <vt:lpstr>RATIONAL AGENT</vt:lpstr>
      <vt:lpstr>RATIONALITY</vt:lpstr>
      <vt:lpstr> SPECIFYING THE TASK ENVIRONMENT: PEAS DESCRIPTION </vt:lpstr>
      <vt:lpstr>PEAS: Examples</vt:lpstr>
      <vt:lpstr>PROPERTIES OF   TASK ENVIRONMENT </vt:lpstr>
      <vt:lpstr>PROPERTIES OF   TASK ENVIRONMENT </vt:lpstr>
      <vt:lpstr>PROPERTIES OF   TASK ENVIRONMENT </vt:lpstr>
      <vt:lpstr>PROPERTIES OF   TASK ENVIRONMENT </vt:lpstr>
      <vt:lpstr>PROPERTIES OF   TASK ENVIRONMENT </vt:lpstr>
      <vt:lpstr>PROPERTIES OF   TASK ENVIRONMENT </vt:lpstr>
      <vt:lpstr>TASK ENVIRONMENT: EXAMPLES</vt:lpstr>
      <vt:lpstr>THE STRUCTURE OF AGENTS</vt:lpstr>
      <vt:lpstr>AGENT EXAMPLE:  TABLE DRIVEN AGENT</vt:lpstr>
      <vt:lpstr> TABLE-DRIVEN-AGENT </vt:lpstr>
      <vt:lpstr>VACUUM CLEANING AGENT: Table Driven</vt:lpstr>
      <vt:lpstr>LIMITATION OF  TABLE-DRIVEN AGENT</vt:lpstr>
      <vt:lpstr>BASIC KINDS OF  AGENT PROGRAMS</vt:lpstr>
      <vt:lpstr> SIMPLE REFLEX AGENTS </vt:lpstr>
      <vt:lpstr>PowerPoint 演示文稿</vt:lpstr>
      <vt:lpstr> SIMPLE REFLEX AGENTS </vt:lpstr>
      <vt:lpstr> MODEL-BASED REFLEX AGENTS </vt:lpstr>
      <vt:lpstr> MODEL-BASED REFLEX AGENTS </vt:lpstr>
      <vt:lpstr> MODEL-BASED REFLEX AGENTS </vt:lpstr>
      <vt:lpstr>GOAL-BASED AGENT</vt:lpstr>
      <vt:lpstr>GOAL-BASED AGENT</vt:lpstr>
      <vt:lpstr>GOAL-BASED AGENT</vt:lpstr>
      <vt:lpstr> UTILITY-BASED AGENTS 	</vt:lpstr>
      <vt:lpstr> UTILITY-BASED AGENTS 	</vt:lpstr>
      <vt:lpstr>PowerPoint 演示文稿</vt:lpstr>
      <vt:lpstr>LEARNING AGENT</vt:lpstr>
      <vt:lpstr>HOW COMPONENT OF  AGENT PROGRAMS WORK</vt:lpstr>
      <vt:lpstr>PowerPoint 演示文稿</vt:lpstr>
      <vt:lpstr>PowerPoint 演示文稿</vt:lpstr>
    </vt:vector>
  </TitlesOfParts>
  <Company>home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utsa mazumdar</cp:lastModifiedBy>
  <cp:revision>147</cp:revision>
  <dcterms:created xsi:type="dcterms:W3CDTF">2018-12-10T17:20:00Z</dcterms:created>
  <dcterms:modified xsi:type="dcterms:W3CDTF">2025-11-03T16:44:36Z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0x0101001F810BBF67D7AB47AE77F6C7A7504E11</vt:lpwstr>
  </property>
  <property fmtid="{D5CDD505-2E9C-101B-9397-08002B2CF9AE}" pid="3" name="ICV">
    <vt:lpwstr>EA2F7CDF31A44AB590DEE3EB69DE1753_12</vt:lpwstr>
  </property>
  <property fmtid="{D5CDD505-2E9C-101B-9397-08002B2CF9AE}" pid="4" name="KSOProductBuildVer">
    <vt:lpwstr>1033-12.2.0.23155</vt:lpwstr>
  </property>
</Properties>
</file>